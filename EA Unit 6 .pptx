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382" r:id="rId3"/>
    <p:sldId id="383" r:id="rId4"/>
    <p:sldId id="386" r:id="rId5"/>
    <p:sldId id="381" r:id="rId6"/>
    <p:sldId id="387" r:id="rId7"/>
    <p:sldId id="388" r:id="rId8"/>
    <p:sldId id="389" r:id="rId9"/>
    <p:sldId id="391" r:id="rId10"/>
    <p:sldId id="390" r:id="rId11"/>
    <p:sldId id="364" r:id="rId12"/>
    <p:sldId id="365" r:id="rId13"/>
    <p:sldId id="366" r:id="rId14"/>
    <p:sldId id="367" r:id="rId15"/>
    <p:sldId id="368" r:id="rId16"/>
    <p:sldId id="372" r:id="rId17"/>
    <p:sldId id="373" r:id="rId18"/>
    <p:sldId id="377" r:id="rId19"/>
    <p:sldId id="378" r:id="rId20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8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Sajjad\Karachi\IBA\Teaching\CI%20Spring%2011\Lecture%202%20Support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Sajjad\Karachi\IBA\Teaching\CI%20Spring%2011\Lecture%202%20Suppor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v>Best-So-Far</c:v>
          </c:tx>
          <c:marker>
            <c:symbol val="none"/>
          </c:marker>
          <c:yVal>
            <c:numRef>
              <c:f>Sheet2!$A$1:$A$50</c:f>
              <c:numCache>
                <c:formatCode>General</c:formatCode>
                <c:ptCount val="50"/>
                <c:pt idx="0">
                  <c:v>11.933284443833299</c:v>
                </c:pt>
                <c:pt idx="1">
                  <c:v>11.933284443833299</c:v>
                </c:pt>
                <c:pt idx="2">
                  <c:v>11.933284443833299</c:v>
                </c:pt>
                <c:pt idx="3">
                  <c:v>11.933284443833299</c:v>
                </c:pt>
                <c:pt idx="4">
                  <c:v>11.933284443833299</c:v>
                </c:pt>
                <c:pt idx="5">
                  <c:v>11.933284443833299</c:v>
                </c:pt>
                <c:pt idx="6">
                  <c:v>11.933284443833299</c:v>
                </c:pt>
                <c:pt idx="7">
                  <c:v>11.933284443833299</c:v>
                </c:pt>
                <c:pt idx="8">
                  <c:v>6.7185721708989785</c:v>
                </c:pt>
                <c:pt idx="9">
                  <c:v>6.7185721708989785</c:v>
                </c:pt>
                <c:pt idx="10">
                  <c:v>6.7185721708989785</c:v>
                </c:pt>
                <c:pt idx="11">
                  <c:v>6.7185721708989785</c:v>
                </c:pt>
                <c:pt idx="12">
                  <c:v>6.6708797436512501</c:v>
                </c:pt>
                <c:pt idx="13">
                  <c:v>6.6708797436512501</c:v>
                </c:pt>
                <c:pt idx="14">
                  <c:v>5.0117709113405899</c:v>
                </c:pt>
                <c:pt idx="15">
                  <c:v>5.0117709113405899</c:v>
                </c:pt>
                <c:pt idx="16">
                  <c:v>5.0117709113405899</c:v>
                </c:pt>
                <c:pt idx="17">
                  <c:v>5.0117709113405899</c:v>
                </c:pt>
                <c:pt idx="18">
                  <c:v>5.0117709113405899</c:v>
                </c:pt>
                <c:pt idx="19">
                  <c:v>4.5790582658680403</c:v>
                </c:pt>
                <c:pt idx="20">
                  <c:v>4.5790582658680403</c:v>
                </c:pt>
                <c:pt idx="21">
                  <c:v>4.5790582658680403</c:v>
                </c:pt>
                <c:pt idx="22">
                  <c:v>4.5790582658680403</c:v>
                </c:pt>
                <c:pt idx="23">
                  <c:v>4.0928601066712096</c:v>
                </c:pt>
                <c:pt idx="24">
                  <c:v>4.0928601066712096</c:v>
                </c:pt>
                <c:pt idx="25">
                  <c:v>4.0928601066712096</c:v>
                </c:pt>
                <c:pt idx="26">
                  <c:v>4.0928601066712096</c:v>
                </c:pt>
                <c:pt idx="27">
                  <c:v>4.0928601066712096</c:v>
                </c:pt>
                <c:pt idx="28">
                  <c:v>4.0928601066712096</c:v>
                </c:pt>
                <c:pt idx="29">
                  <c:v>4.0928601066712096</c:v>
                </c:pt>
                <c:pt idx="30">
                  <c:v>4.0928601066712096</c:v>
                </c:pt>
                <c:pt idx="31">
                  <c:v>4.0928601066712096</c:v>
                </c:pt>
                <c:pt idx="32">
                  <c:v>4.0928601066712096</c:v>
                </c:pt>
                <c:pt idx="33">
                  <c:v>4.0928601066712096</c:v>
                </c:pt>
                <c:pt idx="34">
                  <c:v>4.0928601066712096</c:v>
                </c:pt>
                <c:pt idx="35">
                  <c:v>4.0928601066712096</c:v>
                </c:pt>
                <c:pt idx="36">
                  <c:v>4.0928601066712096</c:v>
                </c:pt>
                <c:pt idx="37">
                  <c:v>4.0928601066712096</c:v>
                </c:pt>
                <c:pt idx="38">
                  <c:v>3.97217975976847</c:v>
                </c:pt>
                <c:pt idx="39">
                  <c:v>3.97217975976847</c:v>
                </c:pt>
                <c:pt idx="40">
                  <c:v>3.97217975976847</c:v>
                </c:pt>
                <c:pt idx="41">
                  <c:v>3.97217975976847</c:v>
                </c:pt>
                <c:pt idx="42">
                  <c:v>3.97217975976847</c:v>
                </c:pt>
                <c:pt idx="43">
                  <c:v>3.97217975976847</c:v>
                </c:pt>
                <c:pt idx="44">
                  <c:v>3.8437628412697502</c:v>
                </c:pt>
                <c:pt idx="45">
                  <c:v>3.8437628412697502</c:v>
                </c:pt>
                <c:pt idx="46">
                  <c:v>3.8437628412697502</c:v>
                </c:pt>
                <c:pt idx="47">
                  <c:v>3.8437628412697502</c:v>
                </c:pt>
                <c:pt idx="48">
                  <c:v>3.7810774255524202</c:v>
                </c:pt>
                <c:pt idx="49">
                  <c:v>3.7810774255524202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F9E-4C59-A622-BEA1441FBC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11377552"/>
        <c:axId val="311248192"/>
      </c:scatterChart>
      <c:valAx>
        <c:axId val="311377552"/>
        <c:scaling>
          <c:orientation val="minMax"/>
          <c:max val="52"/>
        </c:scaling>
        <c:delete val="0"/>
        <c:axPos val="b"/>
        <c:majorTickMark val="out"/>
        <c:minorTickMark val="none"/>
        <c:tickLblPos val="nextTo"/>
        <c:crossAx val="311248192"/>
        <c:crosses val="autoZero"/>
        <c:crossBetween val="midCat"/>
      </c:valAx>
      <c:valAx>
        <c:axId val="311248192"/>
        <c:scaling>
          <c:orientation val="minMax"/>
          <c:max val="12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11377552"/>
        <c:crosses val="autoZero"/>
        <c:crossBetween val="midCat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0"/>
          <c:order val="0"/>
          <c:tx>
            <c:v>Best-So-Far</c:v>
          </c:tx>
          <c:marker>
            <c:symbol val="none"/>
          </c:marker>
          <c:yVal>
            <c:numRef>
              <c:f>Sheet2!$A$1:$A$50</c:f>
              <c:numCache>
                <c:formatCode>General</c:formatCode>
                <c:ptCount val="50"/>
                <c:pt idx="0">
                  <c:v>11.933284443833299</c:v>
                </c:pt>
                <c:pt idx="1">
                  <c:v>11.933284443833299</c:v>
                </c:pt>
                <c:pt idx="2">
                  <c:v>11.933284443833299</c:v>
                </c:pt>
                <c:pt idx="3">
                  <c:v>11.933284443833299</c:v>
                </c:pt>
                <c:pt idx="4">
                  <c:v>11.933284443833299</c:v>
                </c:pt>
                <c:pt idx="5">
                  <c:v>11.933284443833299</c:v>
                </c:pt>
                <c:pt idx="6">
                  <c:v>11.933284443833299</c:v>
                </c:pt>
                <c:pt idx="7">
                  <c:v>11.933284443833299</c:v>
                </c:pt>
                <c:pt idx="8">
                  <c:v>6.7185721708989785</c:v>
                </c:pt>
                <c:pt idx="9">
                  <c:v>6.7185721708989785</c:v>
                </c:pt>
                <c:pt idx="10">
                  <c:v>6.7185721708989785</c:v>
                </c:pt>
                <c:pt idx="11">
                  <c:v>6.7185721708989785</c:v>
                </c:pt>
                <c:pt idx="12">
                  <c:v>6.6708797436512501</c:v>
                </c:pt>
                <c:pt idx="13">
                  <c:v>6.6708797436512501</c:v>
                </c:pt>
                <c:pt idx="14">
                  <c:v>5.0117709113405899</c:v>
                </c:pt>
                <c:pt idx="15">
                  <c:v>5.0117709113405899</c:v>
                </c:pt>
                <c:pt idx="16">
                  <c:v>5.0117709113405899</c:v>
                </c:pt>
                <c:pt idx="17">
                  <c:v>5.0117709113405899</c:v>
                </c:pt>
                <c:pt idx="18">
                  <c:v>5.0117709113405899</c:v>
                </c:pt>
                <c:pt idx="19">
                  <c:v>4.5790582658680403</c:v>
                </c:pt>
                <c:pt idx="20">
                  <c:v>4.5790582658680403</c:v>
                </c:pt>
                <c:pt idx="21">
                  <c:v>4.5790582658680403</c:v>
                </c:pt>
                <c:pt idx="22">
                  <c:v>4.5790582658680403</c:v>
                </c:pt>
                <c:pt idx="23">
                  <c:v>4.0928601066712096</c:v>
                </c:pt>
                <c:pt idx="24">
                  <c:v>4.0928601066712096</c:v>
                </c:pt>
                <c:pt idx="25">
                  <c:v>4.0928601066712096</c:v>
                </c:pt>
                <c:pt idx="26">
                  <c:v>4.0928601066712096</c:v>
                </c:pt>
                <c:pt idx="27">
                  <c:v>4.0928601066712096</c:v>
                </c:pt>
                <c:pt idx="28">
                  <c:v>4.0928601066712096</c:v>
                </c:pt>
                <c:pt idx="29">
                  <c:v>4.0928601066712096</c:v>
                </c:pt>
                <c:pt idx="30">
                  <c:v>4.0928601066712096</c:v>
                </c:pt>
                <c:pt idx="31">
                  <c:v>4.0928601066712096</c:v>
                </c:pt>
                <c:pt idx="32">
                  <c:v>4.0928601066712096</c:v>
                </c:pt>
                <c:pt idx="33">
                  <c:v>4.0928601066712096</c:v>
                </c:pt>
                <c:pt idx="34">
                  <c:v>4.0928601066712096</c:v>
                </c:pt>
                <c:pt idx="35">
                  <c:v>4.0928601066712096</c:v>
                </c:pt>
                <c:pt idx="36">
                  <c:v>4.0928601066712096</c:v>
                </c:pt>
                <c:pt idx="37">
                  <c:v>4.0928601066712096</c:v>
                </c:pt>
                <c:pt idx="38">
                  <c:v>3.97217975976847</c:v>
                </c:pt>
                <c:pt idx="39">
                  <c:v>3.97217975976847</c:v>
                </c:pt>
                <c:pt idx="40">
                  <c:v>3.97217975976847</c:v>
                </c:pt>
                <c:pt idx="41">
                  <c:v>3.97217975976847</c:v>
                </c:pt>
                <c:pt idx="42">
                  <c:v>3.97217975976847</c:v>
                </c:pt>
                <c:pt idx="43">
                  <c:v>3.97217975976847</c:v>
                </c:pt>
                <c:pt idx="44">
                  <c:v>3.8437628412697502</c:v>
                </c:pt>
                <c:pt idx="45">
                  <c:v>3.8437628412697502</c:v>
                </c:pt>
                <c:pt idx="46">
                  <c:v>3.8437628412697502</c:v>
                </c:pt>
                <c:pt idx="47">
                  <c:v>3.8437628412697502</c:v>
                </c:pt>
                <c:pt idx="48">
                  <c:v>3.7810774255524202</c:v>
                </c:pt>
                <c:pt idx="49">
                  <c:v>3.7810774255524202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86A-4295-9646-0C900F1E35DF}"/>
            </c:ext>
          </c:extLst>
        </c:ser>
        <c:ser>
          <c:idx val="1"/>
          <c:order val="1"/>
          <c:tx>
            <c:v>Avg Pop Fitness</c:v>
          </c:tx>
          <c:marker>
            <c:symbol val="none"/>
          </c:marker>
          <c:yVal>
            <c:numRef>
              <c:f>Sheet2!$B$1:$B$50</c:f>
              <c:numCache>
                <c:formatCode>General</c:formatCode>
                <c:ptCount val="50"/>
                <c:pt idx="0">
                  <c:v>44.811203259701387</c:v>
                </c:pt>
                <c:pt idx="1">
                  <c:v>29.37842023577991</c:v>
                </c:pt>
                <c:pt idx="2">
                  <c:v>18.279388246371759</c:v>
                </c:pt>
                <c:pt idx="3">
                  <c:v>16.86467452016948</c:v>
                </c:pt>
                <c:pt idx="4">
                  <c:v>16.378416314522806</c:v>
                </c:pt>
                <c:pt idx="5">
                  <c:v>16.345776683904784</c:v>
                </c:pt>
                <c:pt idx="6">
                  <c:v>16.111662839604481</c:v>
                </c:pt>
                <c:pt idx="7">
                  <c:v>16.069871147985598</c:v>
                </c:pt>
                <c:pt idx="8">
                  <c:v>14.400284577333899</c:v>
                </c:pt>
                <c:pt idx="9">
                  <c:v>11.87856866581973</c:v>
                </c:pt>
                <c:pt idx="10">
                  <c:v>11.87856866581973</c:v>
                </c:pt>
                <c:pt idx="11">
                  <c:v>11.866773107675549</c:v>
                </c:pt>
                <c:pt idx="12">
                  <c:v>11.262759416653184</c:v>
                </c:pt>
                <c:pt idx="13">
                  <c:v>11.24852455856476</c:v>
                </c:pt>
                <c:pt idx="14">
                  <c:v>10.869828421710018</c:v>
                </c:pt>
                <c:pt idx="15">
                  <c:v>10.818124148131242</c:v>
                </c:pt>
                <c:pt idx="16">
                  <c:v>10.758953861443118</c:v>
                </c:pt>
                <c:pt idx="17">
                  <c:v>10.434926816619528</c:v>
                </c:pt>
                <c:pt idx="18">
                  <c:v>9.6549565115830536</c:v>
                </c:pt>
                <c:pt idx="19">
                  <c:v>9.0248810921745619</c:v>
                </c:pt>
                <c:pt idx="20">
                  <c:v>8.4955149318896623</c:v>
                </c:pt>
                <c:pt idx="21">
                  <c:v>8.0027192324499996</c:v>
                </c:pt>
                <c:pt idx="22">
                  <c:v>7.9830606060500724</c:v>
                </c:pt>
                <c:pt idx="23">
                  <c:v>7.0800159265359852</c:v>
                </c:pt>
                <c:pt idx="24">
                  <c:v>6.4763438717314123</c:v>
                </c:pt>
                <c:pt idx="25">
                  <c:v>6.2001830978131984</c:v>
                </c:pt>
                <c:pt idx="26">
                  <c:v>6.0275730115010235</c:v>
                </c:pt>
                <c:pt idx="27">
                  <c:v>5.9391488004965494</c:v>
                </c:pt>
                <c:pt idx="28">
                  <c:v>5.9245996905018234</c:v>
                </c:pt>
                <c:pt idx="29">
                  <c:v>5.7615590325408172</c:v>
                </c:pt>
                <c:pt idx="30">
                  <c:v>5.6764877939479526</c:v>
                </c:pt>
                <c:pt idx="31">
                  <c:v>5.4883689793527424</c:v>
                </c:pt>
                <c:pt idx="32">
                  <c:v>5.4814828479039042</c:v>
                </c:pt>
                <c:pt idx="33">
                  <c:v>5.3701638219964485</c:v>
                </c:pt>
                <c:pt idx="34">
                  <c:v>5.2589123154285842</c:v>
                </c:pt>
                <c:pt idx="35">
                  <c:v>5.2589123154285842</c:v>
                </c:pt>
                <c:pt idx="36">
                  <c:v>5.1711189132208704</c:v>
                </c:pt>
                <c:pt idx="37">
                  <c:v>5.1320497752905094</c:v>
                </c:pt>
                <c:pt idx="38">
                  <c:v>4.9246420399667565</c:v>
                </c:pt>
                <c:pt idx="39">
                  <c:v>4.8035073546442764</c:v>
                </c:pt>
                <c:pt idx="40">
                  <c:v>4.7946847949640903</c:v>
                </c:pt>
                <c:pt idx="41">
                  <c:v>4.7906869745991294</c:v>
                </c:pt>
                <c:pt idx="42">
                  <c:v>4.704399421327401</c:v>
                </c:pt>
                <c:pt idx="43">
                  <c:v>4.6442164113648943</c:v>
                </c:pt>
                <c:pt idx="44">
                  <c:v>4.473974637510409</c:v>
                </c:pt>
                <c:pt idx="45">
                  <c:v>4.4196362853464839</c:v>
                </c:pt>
                <c:pt idx="46">
                  <c:v>4.3086624306610535</c:v>
                </c:pt>
                <c:pt idx="47">
                  <c:v>4.2591086183886064</c:v>
                </c:pt>
                <c:pt idx="48">
                  <c:v>4.1811563366069704</c:v>
                </c:pt>
                <c:pt idx="49">
                  <c:v>4.1796106102661694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B86A-4295-9646-0C900F1E35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10914840"/>
        <c:axId val="310915224"/>
      </c:scatterChart>
      <c:valAx>
        <c:axId val="310914840"/>
        <c:scaling>
          <c:orientation val="minMax"/>
          <c:max val="52"/>
        </c:scaling>
        <c:delete val="0"/>
        <c:axPos val="b"/>
        <c:majorTickMark val="out"/>
        <c:minorTickMark val="none"/>
        <c:tickLblPos val="nextTo"/>
        <c:crossAx val="310915224"/>
        <c:crosses val="autoZero"/>
        <c:crossBetween val="midCat"/>
      </c:valAx>
      <c:valAx>
        <c:axId val="310915224"/>
        <c:scaling>
          <c:orientation val="minMax"/>
          <c:max val="45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10914840"/>
        <c:crosses val="autoZero"/>
        <c:crossBetween val="midCat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FABACEB-7DE4-4C77-B0FB-0AA51D1CC23A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B8FCB6C-4C50-44A7-A200-856491CE24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77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5AD65772-9095-4B35-8937-91361180A2DC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95CC6AC-FB25-4B1C-8C6A-86803F2D9B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916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3DC5E5-2F8B-489E-9F34-F256B047034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48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5CC6AC-FB25-4B1C-8C6A-86803F2D9B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975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4618F46-AA36-4BD7-B8C8-20000B34C437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A2C2 EBO for ESG ONE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24275-3FB2-4713-B398-34CCCF1EB96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22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4618F46-AA36-4BD7-B8C8-20000B34C437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A2C2 EBO for ESG ONE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24275-3FB2-4713-B398-34CCCF1EB96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03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C241-F1F2-4AEB-ADA0-0912DAD869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C241-F1F2-4AEB-ADA0-0912DAD869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C241-F1F2-4AEB-ADA0-0912DAD869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C241-F1F2-4AEB-ADA0-0912DAD869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C241-F1F2-4AEB-ADA0-0912DAD869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C241-F1F2-4AEB-ADA0-0912DAD869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C241-F1F2-4AEB-ADA0-0912DAD869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C241-F1F2-4AEB-ADA0-0912DAD869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C241-F1F2-4AEB-ADA0-0912DAD869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C241-F1F2-4AEB-ADA0-0912DAD869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C241-F1F2-4AEB-ADA0-0912DAD869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2C241-F1F2-4AEB-ADA0-0912DAD8699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0000F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Evolutionary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Unit # 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C241-F1F2-4AEB-ADA0-0912DAD8699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# 1 (Function 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C241-F1F2-4AEB-ADA0-0912DAD86992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 cstate="print"/>
          <a:srcRect l="27344" t="39218" r="18750" b="10107"/>
          <a:stretch>
            <a:fillRect/>
          </a:stretch>
        </p:blipFill>
        <p:spPr bwMode="auto">
          <a:xfrm>
            <a:off x="1905000" y="2209800"/>
            <a:ext cx="5705272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838200" y="1752600"/>
            <a:ext cx="3352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f(x, y) = x</a:t>
            </a:r>
            <a:r>
              <a:rPr lang="en-US" sz="2400" baseline="30000" dirty="0"/>
              <a:t>2</a:t>
            </a:r>
            <a:r>
              <a:rPr lang="en-US" sz="2400" dirty="0"/>
              <a:t> + y</a:t>
            </a:r>
            <a:r>
              <a:rPr lang="en-US" sz="2400" baseline="30000" dirty="0"/>
              <a:t>2</a:t>
            </a:r>
          </a:p>
          <a:p>
            <a:r>
              <a:rPr lang="en-US" sz="2400" dirty="0"/>
              <a:t>-5 </a:t>
            </a:r>
            <a:r>
              <a:rPr lang="en-US" sz="2400" u="sng" dirty="0"/>
              <a:t>&lt;</a:t>
            </a:r>
            <a:r>
              <a:rPr lang="en-US" sz="2400" dirty="0"/>
              <a:t> x, y </a:t>
            </a:r>
            <a:r>
              <a:rPr lang="en-US" sz="2400" u="sng" dirty="0"/>
              <a:t>&lt;</a:t>
            </a:r>
            <a:r>
              <a:rPr lang="en-US" sz="2400" dirty="0"/>
              <a:t>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Assignment # 1 (Function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295400"/>
            <a:ext cx="6400800" cy="609600"/>
          </a:xfrm>
        </p:spPr>
        <p:txBody>
          <a:bodyPr/>
          <a:lstStyle/>
          <a:p>
            <a:pPr algn="ctr">
              <a:buNone/>
            </a:pPr>
            <a:r>
              <a:rPr lang="en-US" dirty="0"/>
              <a:t>f(x, y) = 100 * (x</a:t>
            </a:r>
            <a:r>
              <a:rPr lang="en-US" baseline="30000" dirty="0"/>
              <a:t>2</a:t>
            </a:r>
            <a:r>
              <a:rPr lang="en-US" dirty="0"/>
              <a:t> – y)</a:t>
            </a:r>
            <a:r>
              <a:rPr lang="en-US" baseline="30000" dirty="0"/>
              <a:t>2</a:t>
            </a:r>
            <a:r>
              <a:rPr lang="en-US" dirty="0"/>
              <a:t> + (1 – x)</a:t>
            </a:r>
            <a:r>
              <a:rPr lang="en-US" baseline="30000" dirty="0"/>
              <a:t>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C241-F1F2-4AEB-ADA0-0912DAD8699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7282" name="AutoShape 2" descr="data:image/jpg;base64,/9j/4AAQSkZJRgABAQAAAQABAAD/2wCEAAkGBhIREBUUExQUFBQUGBkXGRgVFxcZFRcVFBYaFhQXFhUZHCYfGBkjGxQXHy8gIycpLCwsFx4yNTAqNSYrLCkBCQoKDgwOGg8PGiwkHyQtLCkwKjIsLDQ2LCwpLCwsLDUvKS0vLCw1LCwpKSwsNCwsKzUqMi8sLCopLy4sLCo0L//AABEIAMwA9wMBIgACEQEDEQH/xAAbAAEAAgMBAQAAAAAAAAAAAAAAAQQCAwUGB//EAEQQAAIBAwIBCQUECAUDBQEAAAECEQADIRIxBAUTIjJBUWFxgQYjQpHwM1KhsRRDc4Ky0eHxBxVyksFig6JTY6PC4hf/xAAaAQEAAwEBAQAAAAAAAAAAAAAAAgMEAQUG/8QALhEBAAIBAgMFBwUBAAAAAAAAAAECEQPwBCExEkFRsdETImFxgaHxFDKRweFS/9oADAMBAAIRAxEAPwD7hSlKBSlKBSlKBSlKBSlKBSlKBSlKBSlKBSlYm4Jie/8ADfPrQZUpSgUpSgUpSgUpSgUpSgUpSgUpSgUpSgUpSgUpSgUpSgUpUFqCaVGr69Ypmgmo1CoC+f15VkBQY6u4fPHZSD3/AC8qkVM0EaaHeoLj+1QWM7d/bnERA7fnQZae76zJqNXf/SpDVNABpWOn0+oz30n6FBlSoBqaBSlKBSlKBSlKBSlKBSla+JtakZcdJSMzGRGYIMeRFBsmleNvexFxubJNk6JOkqSkTeizgD3U3w8AAarNvo4EdXkX2fucOLkXAWfTDFSdRVnYvcEiXPOBTB2trnsAd2laODvF7aOcalVoG3SWSJ7s1uCD6+VA1evlUSfr+VZVFA0+JoB9edCajV4H6MdtBJqaxM/Xn/KpC+tA1CgbwoBFTQYgHy8v61Oj69IoKavr8aCajtoSaxIM79hx2dkY8PMb0GRFIPnTV3/WcVNBiren1+NZVEVEGgMP+Pr8aZHj+e1C3p/f+lZUEA1NQRUZ86DKlQGqaBSlKBSlKBWN26FUsTAUEk9wAk1lWF63qUrJEgiVJBEiJBGQfGg5I9ruGkjU+obrzV3WOkVgppmZU4jYTtV3gOV7V8tzbatMTggEEkBlJHSWUYSMSp7q559j7BCSbh5vqHVBUkMNQKgZ03HXyY9uatcL7P2bYYKpAaPibohSWUIQZUBnc47WNBY5K+wtfs0/hFWdfr5fOqnJKDmLX7NN8/AO2rlBjJ8vOmnx+vzrKoJoEfXnU1GrwNM/Xn/KgGk1BX1/vNSBQNXhSDU0oMQnr5/KsqxDfX40k93z8qDKoJzTT4/KsSgn0PnmJjtoM6jT6Uz5/wB6BqCAY/p/L+9ZTUChX6+vKgGo0xtj8toHkKEn68/H0qQ0/X591A1UFTWIX0+p22oJIqII2/H+dJ76maCaUFKBSlKBWvib2hGbHRUtkhRgTljgDx7K2VBFB5C57cupQG3a6ZgMbpCQVuuLhlJFuLJEkTqdBGZrqcj+0wvBy6i2qaTJMwGd0i5gaGBtyRsA65rrjhUAgIsbRpEQTJ/ETWwIBMCJMnxO0n5UFTklxzFrt92n8A7atSfLz8qr8lfYWv2afwirVBjp8aBRNZE1jq86DKlRnw+tqjT9es0Esf8Aj86avCkfXrU0GMGpC+tTUaqAoqaxB+jSD3/LyoMqwNwT6H8I9O2stIp20E1BFRp7sf3k4pPf+FAAjb8f5/8AOanV9fXnRTU0EGhWagr4/U/1oG78fltJz3ecUDPnRW+v6VlWLEZmIGc/1oMq5vKHHkStqC8GW3VTAiR8TZUAeImBvtvOzCFJVSIn4jsMTsMjO/dG9VrNoFgFELPZ3Zf/AOtr51nnW7U9mrRp0iPes6oqaClaGcpSlAoaUoPIcUnKE283W92ouaOaUgjWWZCX0ly3NjTpgKSQ2IPS5GbjFFw31LnowJQAtqfXzUfBo5qA0ZDbb12bnEovWZRickDEgTnskgetZLcBmCDBgwdjgwe4wR86CrySTzFr9mn8Aq0B3n5YqvyV9ha/Zp/CKtE0EBRSo1+v130z4fW1BlUFqaaqvxY+GAskF8aQZ7PXt2nvrsVmeiNrxWOaw9wDf8cDeO2tf6Wv3l3j13ifKqBuEyYkgdIvMMp+NFOe89nd3GsDcJ7XedtIADouZBb4lmZBz2eF8aXix24m3dG/tv6Z6ttlbYho8Z28q2AV5u/q63SJgtq6EQcauiQQNtQBwSGxWoe0dyxPOAsqiDOH1bwCRDHSeyZw0gE6Z/pbW/ZOfglTiv8AqMPUCpJqjybytavg824JXrLs6mNmU5G9XdI+vKKzWrNZxaMNcTE9Ea6gkz6Htz2RA/rWdab3FIhGp1WZjUwExEwDvUYjLraG+vKprBXDCQQR4ZFZRQRp9PL5etJNYm6BuQvnj8960nlS1MBwxkCF6RknSOrMZBHoe6pRWZ6Q5Nojqsz9etTXOblZTlVMYMnHRgvMDPVEwY6y99Qtx23Odsbao0nz6Tf/ABmpeytHVRbiKx05rly8Btv4bbTn/bWsiTn+g7NvOflWkOo/OBkxiB8lUfvVmCTvj6ImfRzWTWrMoU1+1PMusThd/wAB5nzYY8KnhODAJJ6RIg92wwF2AgL/AMzWQMefcO8/lk/hW23ttvnGfTxrNoVzfn3N0ak9nENtKUr0EClKUChFKUHlOI9h55rTcT3IUANa1AlFuooI1joRfJ0/eRDOIrockezh4cPpu5bSAdAmFd3m5J6bE3SCRpwF2ia38d7RWrVxrZDM6qrQukk6yQAF1aicEzEQN5xW3kzlq1xGrmyTpgyRAZSWUMvepa24/dPZBIZ8kg8xak/q02/0CrYUfXyqryUfcWv2afwCrOvuz/aaDKoqM1xuUeUUYwxcWjKhl/W3NhaSPHb7xkbTNmnSbziHJnDdxfHhwdJgCIBBm9OwXvQ5Ejc+HWrveHWK6pnVZzFuMFn3z34z8M/FX5x2uBHIHEgSjY5u3b3JIGCxA6SdsSIUSMF4iQXWUI0h+kec4gscc2QASCAdLgCcgaQJG6unERiN59fHyhmtWbc53vfNaMlgsi44PQcn3YMSUO8mB4sRmQRNaud1gnpOJ6QU6UtPPWU/EuZPW79ia03XULBE2jJ5lCQbUHrXIHRUMDI2U7auzJ2YtpMXbqgAaSFsMgyVuEDLCZiDEghQCwqWMRmd7/j5wr9nve/kwuaZM80CDLC3bNzTH6xT93bUD49vWqNwxYkKAAvSchXVVXUMqNUOonWBkrkGA0V1U4C4QCWZQoLIi9EqQOlb1gk6cxEjbsAEWOaUQABoB0wB+q4gYx3awB6Vk1OMx7unP13vzbNDhK/uvH03vyeS9puRhZtI9stbazddWZDDs3WtFmAx0YHYBqgQIqryd/iHxVjo3wt0IOmxGlwTskjBbBBkTgzkGvT8Vae5bdANTaQWM6Yu8O0NHeWAUYBEb4InxXF8mkAdEwu0oyAuRM6TbVRpABPWKgAjUoGj0eA1NPiNKdPUjOJ8/jv7J69JpbL1H/8AQi6nTbVGhes0wxOVIhdhnVJA+LTtVK5ykznUXgOdQ5xFuKwXCFbiaVuAMQQDFtckkkTXlbdgrAUz0oWIOq5EtcLCRhTiCTGZAm4elwd/rEAqCJbSVEqggNcibbamJg3rTTOHbeu34eunPuwqzl2Qg6xsW26xBVkdSF6RLXH0FkDS1y5jW2lQSCRWwsg/V3AZj3ik5A1qLkHBMm68dVVVIE5o2WGuIAfBbSeZv46Wsq0IxXokM7Ki50oTANg8Rp3d7YiYu29VsBn1yW0ybZYbltV5gMACoxM9PX/RZV7amQjCIgtaMjSC9stIiYL8QwMfADtVpeLUAwlwAAgCACqhR95gQVtN49PiD24qlavk5F2y2SDqAPSnnGFwrcjs5y7GOiiDVtVi3zwjpICIJLW2kQTdlxzm4DG8/wD1G2ueyycT1/v034oTXK+t98wihpIgmelqHRx2axbt77Wm7qs2yT8RI7xjBmGx26Rcf99K5aBlADOywI2XUAq7ZBJZUeDG9y94GtqOkwWVzPV1FxqB2gdmoKgxlbLd9UWp4MmpTx+7rLeA2gmdlyJJ7xjrFR/262o0+A7u0iO/xAX/AH1z7XECOiGI7zjGmQe+SpZtt7w8KtqWO5A8th2b9wYHuxa8ax6ulnqozNZWrYExOdvz/wD2fUVcNVeCUESNvr/gD8asFe7+lZIr2Zeloc6ZZClKV1eUpSgUpSgocbyJZvNqcMWiAQ9xdO0ldLDSTABIgkYmKWeQ7CBgqAB4nLY0klQuegAWYgLEFidyav1xOB9odTX+d0olpo1Cej7y4mm5vDRbVycALdXzIX+SV9xa/Zp4nqDtq5XmeF9o3tWLZbhb1xNCQ/D6LqkaRkjUGG3cfynm8V7Y8+WtqGXA6KsnWDQwvls6MCQgPROSAZrRThtS/OI5OZh3OU+VwVlZayG0ObZl3bINu0oy+RDRnBAkgxyi0LnQ9op2nXb4O02+o7P0fVdI+ASK9u+5fUAbd7Y3Aqi2UPQVEssRoMgKWc6lOkSQQBY4a05KsFW0JB5pmL2y0kc5dO7XA4gtgho1AmGXZWns4xvf4nl1rm0IuFVRVua2sMxa20jnbz4h7rE4XOHMAiNUCA+73jXNLOP0hZAvj7G2AJa2qY1XI6ynfrSsBF38FyeFDyze8HTgAQJIfQPgAYwyjGdW5JN+wlu0gWFRUERsAAIZRPZkMO+a5fVx05zvcx0nv8FFtaI7t7/xR4TgXYyA1kHFzpHXfIHWLYZOyDhox0QAK6/DcKltQiABBMATADZGkdgk7CsBxIO0sdpG0jqmTjI/Ksg5PbA8O5u8+B8MCvL4j2mr16eG/PrjlCVNeuWVxu3t63qvRf5itR4GcE4grHgTqSfLbBrdIG+O/wD1DB+YqS84HlJwM9U1hmlo3v8ADVXiPo0XDpyBEdOB2aehcAHkfnXjOWeAW1dYCMSy6uaUw7EocAXLltT2g60KyCQYr3Srmdzv5H4gBXL9orBZAVkm2ZIDsjRB0lHVWKuJgCMyQcGRt4HXto6sRPSeW99Er3i1XhOJsA41LEASXUjROpnnngkMchwNBnPNvJrAWgNxgGY02AYUQqxq1BmO4BDnEi6M11LquoklgAdOpuctgM/Scnnry81cMmZU23kd8CnpBmApA3AgwqyEQqOdVM/C5Ns7qVr6K18woYcODAEDSTgQGTnHy0IddkkCZ5s2H3wCat8PeO6Fxkn3TTDH3YPNXNbK8A5Q3bhgxpmKp3bYBOvSGwrF9IbU+elzqIQAMAXCVGNLzWk8ceeFthEoWSVYnRb0qAoa6LkS8xavuDGFM1RaY7+9KK5z8HYa+C0E2WM6dNy2bbypHNoLbashiSLcHJ13CCIOYsDssW+wyulhCkBIJUFxqJzE3bkAdBarWrsAqCSFEFR79Qi5YPbIt3Qk9hW3bwCdc5WmSZizO5K3HsttJeNMqMqNfcdNpcyZVmY3+IcXLahTjh9OmYINpiNLaBBBOpwWYDfVefuTF1LjHC21jYLrwR9mFACnEA2gZH65ts1zwCsTbviIGLxWNKmc870NIMf+0hMyzQM9IGCl0x2M5UCEnpBrvQXSQCDJS3A61yreVt/6rtDrrdc5LqomdUd51hiWkdhuRGy2h21YsOrEbtsI625iJ2xCof8AuVyrIgyLRDd76dYIgiVGrIcqSo+I2kHVIrv8jWTuwAjqgEnYQekesBJE9pLH4qya2KRlmnS7dsOnbXSAN/HvOSTHn+dZzNTWLLXlPQiMRiGQpSlHSlKUClKUCuTyXYu87e50MbeoG3zhRjIZyxULOlY5sAYONpkt1qUFO7yYslkJtuclkgSf+pTKtvuRPjVTi7EiOJsJfX76pqjtk2mlh+6W9K69c/l7lI8PYa4CgIIA5wwssQAJ7zMbgZyQAa7EzHOBxF9iuEuDVw929aGRFu6xQGApBR9QU6QFjGMEdlVOI9mOMt9S6t/vDPdttlQG3LhpAAgxI7Zhl9Nc5Jt3CLhDLcKgaldseG+lh5gg1Ou9b3AvL3rC3B5qei3mCPBa1V4zWr1nPz3lGaRLxt3ieItE87wvEjxDm6vVnLq0EY0HVEqRJUjUdnBe0Vkn3YWR917esGJTtBLAyBIBZZUjUAD7XhuOS5OlsjdTIdZ21IYK+orXx3I1i/8Aa2rdwjYuikjyJEjar44yk8r1/iZ8p9VU6MS4lrlNjEBIO2l9UqcqFhc9rIQewrvIG8cdO9xBPdCg6vFiei4mDiGwc1W4r/D3hY92XsnwKuO0ZW8Hx0oIEVRb2Q4y39lesXRO1yzzZjAI1LqBlRpMrkBTkgNU4nh79LY+cflTbh5dy1x9s5DajvIljHwsSJiOqwrenFE7KRvg4OOssDMjcDBjavK3bnH2j72xcYA9ayqXQewtBuF8ggGVyFIOenWke1SKwW4162douc3aI0Eqek0ZHWDd3RbA1V2eD7ce7MT9cqp0rV6b3vL2oPee7wWfhM9zDFQbqlSOspBBAGNJww7sE15uxy5aOYU95a4kAAww67MAJB70J3KmavW+WwSOnaXP3gzSMHAI6QEAgdYZWazX4KY7ke1eu/XfycPlHguavFRGuDpgKLxVskLi5d4tAJkYYQc7RU4iJXVtkLqJwq4Kpz7XHQk45q5aAwQNpr0XHOt61pVg7CCohzb1T0QTbZQQWko2rfxFebvzaw3QB6B1FUkIJZdRFqzeE403AzdbJzWqnaxz6telqduGEFJH2ZQAbtaKF+0qOaezj7qXLRkYxFc3loi3zVyAAlxWAwC1s+5JW3FsXTDzNtp6Ilc10tRBCKNLDpBALiFTdMStpObu2sDdFurk4NVeIVXtXE+G4CG06QCNJVdRtoELFiTN2whH3ujJlMTMb38VqxbWW0HJTrCGdkC9J2ChUv2TMAMbX3TzmZrbw98viWaTOCt1ZMF2hvezpwSpZgGzdWK5nJ/Fh+HtagOqBBjSrrJv82LjBAdYI91etntjGbV+6SIecmTzgB6bSZYX9L4XaXYiYFypRGRvRraxAspgHd+HgM0qRjTgAREoGGOdeK3W7o/6R2yOJfGdR6+xHX6XVbpv0tKVXS84gS6kmeteQhnGlcXNShtPbzgJke8YHSfRcj+zNxiHu6lUHqkW9TBR7sgi2umMxhdOowqnpGy2pXTjNp+/9OYyjkXkjnm6SQgGTrdskkwA22DInK6mY9N+j7DmxAECBECMCNoHhFVzfs2FVCUtjZVJC7ZhR2+lYDlIt9nbuP4kaF+bwY8ga8jX1p1bZ7k61iFrQRscdx9e3fu+VBc7Dg/0nHfvVXRfbdktjuUF29GaAD+6aHklG+0L3fB2JU+dsQh/21nSXRSuRx3GDhms27egC7cC6XcgwSAwtzgQGmPAKBLCOvQKUpQKUpQKUpQKGlKBSlKDn8WLd25zRU84qa1aCNOolei4IMyMgEYjvrG3w9+0I18+O3VCXPRlhW8AQD3tV/mF1a4GqNM9umZjyms6Crw3KCM2nKvvocaX8SAesPFZHjVqtHG27ZQ86F0KNRLRC6c6p7I3nsrn2GuaVbhmF220yLzMCoBggPpL6pkEODGkjFB16wu2lYaWAZTuCAQfQ1Vt8pCQrzacmArQAxkQFfKsfAGfAVc0ig4nE+x3A3DP6PbBmZQaDnc6kKk/Puqhd9hLcyl/ibW36wXBsSw94GO+cncA7gV6ulaK8VrV6WnfwRmsS8Zd9jeLB6PFi4pJkXEdTpYAEakuQSQMmBJ3B2HP4r2X5QOSlhnaFZ7N64HKAyVfnRDLgQpDRkAgV9BK91U7/LNpJBbURMi2GuMI71QEj5VfHH6vfET9PTCPsq9Xy+5yHyjbWDwjaAx6KG06SxguLCsV1BcAqgOTkVjb4HjDn9G4gEQRqRyRBi2obWXAEljDgHu3r6inHXLgBt2+ichrjgAg7EBdRPkY9Ky/Q7rde7HhaUL82bUfURUv1+etI+/rLvZfLeS/Z7iluX7bLohg7NcdQeavy0npkOGupd65YgDY12eTPZpGwb7XCJDLwswGY5IuAJbGMQyn859FxfJtuzx3D3NOoXVuWCXJc6wOetGXJIxbvD9+utyuHFpjanX0QSoBcJrHOaAQQWCayAQcxg1TPF6mMRiHezCjybyObX2Vm1aP3n6b4EdRIUSB8LR+VX/8uJ69243gp5tf/CG+bGtnJpuGzb537TQuvbrQNW2N+6rNZbWm05lJVTkqyNrVvcHqiZGxmJnxrHg79xrl5XUBUYBCAekpRSSScE6iwxjarlK4FKUoEUpSgUpSgUpSgUpSgUpSgUpSgUpSg1cXwq3bb226rqynyYFTnyNYcBwQtIEBZssxZo1MzsXcmABlmJwAKsUoMbtoMCrAMDggiQR3EHeqf+Xsn2LlR9x5a36Z1J6GB901ern3uTWa5bc3CebuFwIjDWrlvTiJ+0Bkz1fGg1pyw5bRzFwMSQDtaJG8XDBjzUT2A71v5u+27pbHcg1t6O8D/wAKu1xm4biG4q0zSEUNJt3DoJIYBWtkidwZhjIWNMGQuf5Sh6+q7+0Ykf7MIPRat27YUAKAANgBAHoKypQUeVUvNbdbUKTbYKwaHW4VOnSCpXeMk9+KuW5gTvGfPtrKlBxva1D+itcAluHK8QO88wwuMo/1IrL+9XXtuGAIMgiQRsQdjUuoIIOQcHy7a4/sk5HCraJluHZ+HPfFhiiE/wCpAjfvUHZpSlApSlApSlApSlApSlApSlApSlApSlApSlApSlApSlApSlApSlApSlApSlAri8F7vj76dl9Evr4unuL0eSrY/wB1dquRyxYYX+FvIpOi41t9Ik81fWCY7hcSyT3BTQdelKUClKUClKUClKUClKUClKUClKUClKUClKUClKUClKUClKUClKUClKUCufy/yt+i8O97Tq0aSRtgsFPrBn0roVhdtKwhgGGMEAjBkYPiAaDxnDf4oWSvTRlaAxC5ABE6ZMEt1uyMZIq4f8RuGwNF7UY6OlJz4642zv8Ajiu+eSbH/pWs79Bf5eNT/lVmZ5q3MROhZjumNqDln2wtc7ZtKlwteCNJ0gKLilhOckQJA79618P7TO3Dve0ICti1fAk7XVLlSY3AXfxrt/oFrUG5tNSgAHSsgDYAxIAk48awXkuyAALagKNIEYCkREbRBI9T30Ecm8abqsSACty4mDIi3cZQZ8QASOwyKt1rs2FQQoCglmgfedizHzLEn1rZQKUpQKUpQKUpQ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284" name="AutoShape 4" descr="data:image/jpg;base64,/9j/4AAQSkZJRgABAQAAAQABAAD/2wCEAAkGBhIREBUUExQUFBQUGBkXGRgVFxcZFRcVFBYaFhQXFhUZHCYfGBkjGxQXHy8gIycpLCwsFx4yNTAqNSYrLCkBCQoKDgwOGg8PGiwkHyQtLCkwKjIsLDQ2LCwpLCwsLDUvKS0vLCw1LCwpKSwsNCwsKzUqMi8sLCopLy4sLCo0L//AABEIAMwA9wMBIgACEQEDEQH/xAAbAAEAAgMBAQAAAAAAAAAAAAAAAQQCAwUGB//EAEQQAAIBAwIBCQUECAUDBQEAAAECEQADIRIxBAUTIjJBUWFxgQYjQpHwM1KhsRRDc4Ky0eHxBxVyksFig6JTY6PC4hf/xAAaAQEAAwEBAQAAAAAAAAAAAAAAAgMEAQUG/8QALhEBAAIBAgMFBwUBAAAAAAAAAAECEQPwBCExEkFRsdETImFxgaHxFDKRweFS/9oADAMBAAIRAxEAPwD7hSlKBSlKBSlKBSlKBSlKBSlKBSlKBSlKBSlYm4Jie/8ADfPrQZUpSgUpSgUpSgUpSgUpSgUpSgUpSgUpSgUpSgUpSgUpSgUpUFqCaVGr69Ypmgmo1CoC+f15VkBQY6u4fPHZSD3/AC8qkVM0EaaHeoLj+1QWM7d/bnERA7fnQZae76zJqNXf/SpDVNABpWOn0+oz30n6FBlSoBqaBSlKBSlKBSlKBSlKBSla+JtakZcdJSMzGRGYIMeRFBsmleNvexFxubJNk6JOkqSkTeizgD3U3w8AAarNvo4EdXkX2fucOLkXAWfTDFSdRVnYvcEiXPOBTB2trnsAd2laODvF7aOcalVoG3SWSJ7s1uCD6+VA1evlUSfr+VZVFA0+JoB9edCajV4H6MdtBJqaxM/Xn/KpC+tA1CgbwoBFTQYgHy8v61Oj69IoKavr8aCajtoSaxIM79hx2dkY8PMb0GRFIPnTV3/WcVNBiren1+NZVEVEGgMP+Pr8aZHj+e1C3p/f+lZUEA1NQRUZ86DKlQGqaBSlKBSlKBWN26FUsTAUEk9wAk1lWF63qUrJEgiVJBEiJBGQfGg5I9ruGkjU+obrzV3WOkVgppmZU4jYTtV3gOV7V8tzbatMTggEEkBlJHSWUYSMSp7q559j7BCSbh5vqHVBUkMNQKgZ03HXyY9uatcL7P2bYYKpAaPibohSWUIQZUBnc47WNBY5K+wtfs0/hFWdfr5fOqnJKDmLX7NN8/AO2rlBjJ8vOmnx+vzrKoJoEfXnU1GrwNM/Xn/KgGk1BX1/vNSBQNXhSDU0oMQnr5/KsqxDfX40k93z8qDKoJzTT4/KsSgn0PnmJjtoM6jT6Uz5/wB6BqCAY/p/L+9ZTUChX6+vKgGo0xtj8toHkKEn68/H0qQ0/X591A1UFTWIX0+p22oJIqII2/H+dJ76maCaUFKBSlKBWvib2hGbHRUtkhRgTljgDx7K2VBFB5C57cupQG3a6ZgMbpCQVuuLhlJFuLJEkTqdBGZrqcj+0wvBy6i2qaTJMwGd0i5gaGBtyRsA65rrjhUAgIsbRpEQTJ/ETWwIBMCJMnxO0n5UFTklxzFrt92n8A7atSfLz8qr8lfYWv2afwirVBjp8aBRNZE1jq86DKlRnw+tqjT9es0Esf8Aj86avCkfXrU0GMGpC+tTUaqAoqaxB+jSD3/LyoMqwNwT6H8I9O2stIp20E1BFRp7sf3k4pPf+FAAjb8f5/8AOanV9fXnRTU0EGhWagr4/U/1oG78fltJz3ecUDPnRW+v6VlWLEZmIGc/1oMq5vKHHkStqC8GW3VTAiR8TZUAeImBvtvOzCFJVSIn4jsMTsMjO/dG9VrNoFgFELPZ3Zf/AOtr51nnW7U9mrRp0iPes6oqaClaGcpSlAoaUoPIcUnKE283W92ouaOaUgjWWZCX0ly3NjTpgKSQ2IPS5GbjFFw31LnowJQAtqfXzUfBo5qA0ZDbb12bnEovWZRickDEgTnskgetZLcBmCDBgwdjgwe4wR86CrySTzFr9mn8Aq0B3n5YqvyV9ha/Zp/CKtE0EBRSo1+v130z4fW1BlUFqaaqvxY+GAskF8aQZ7PXt2nvrsVmeiNrxWOaw9wDf8cDeO2tf6Wv3l3j13ifKqBuEyYkgdIvMMp+NFOe89nd3GsDcJ7XedtIADouZBb4lmZBz2eF8aXix24m3dG/tv6Z6ttlbYho8Z28q2AV5u/q63SJgtq6EQcauiQQNtQBwSGxWoe0dyxPOAsqiDOH1bwCRDHSeyZw0gE6Z/pbW/ZOfglTiv8AqMPUCpJqjybytavg824JXrLs6mNmU5G9XdI+vKKzWrNZxaMNcTE9Ea6gkz6Htz2RA/rWdab3FIhGp1WZjUwExEwDvUYjLraG+vKprBXDCQQR4ZFZRQRp9PL5etJNYm6BuQvnj8960nlS1MBwxkCF6RknSOrMZBHoe6pRWZ6Q5Nojqsz9etTXOblZTlVMYMnHRgvMDPVEwY6y99Qtx23Odsbao0nz6Tf/ABmpeytHVRbiKx05rly8Btv4bbTn/bWsiTn+g7NvOflWkOo/OBkxiB8lUfvVmCTvj6ImfRzWTWrMoU1+1PMusThd/wAB5nzYY8KnhODAJJ6RIg92wwF2AgL/AMzWQMefcO8/lk/hW23ttvnGfTxrNoVzfn3N0ak9nENtKUr0EClKUChFKUHlOI9h55rTcT3IUANa1AlFuooI1joRfJ0/eRDOIrockezh4cPpu5bSAdAmFd3m5J6bE3SCRpwF2ia38d7RWrVxrZDM6qrQukk6yQAF1aicEzEQN5xW3kzlq1xGrmyTpgyRAZSWUMvepa24/dPZBIZ8kg8xak/q02/0CrYUfXyqryUfcWv2afwCrOvuz/aaDKoqM1xuUeUUYwxcWjKhl/W3NhaSPHb7xkbTNmnSbziHJnDdxfHhwdJgCIBBm9OwXvQ5Ejc+HWrveHWK6pnVZzFuMFn3z34z8M/FX5x2uBHIHEgSjY5u3b3JIGCxA6SdsSIUSMF4iQXWUI0h+kec4gscc2QASCAdLgCcgaQJG6unERiN59fHyhmtWbc53vfNaMlgsi44PQcn3YMSUO8mB4sRmQRNaud1gnpOJ6QU6UtPPWU/EuZPW79ia03XULBE2jJ5lCQbUHrXIHRUMDI2U7auzJ2YtpMXbqgAaSFsMgyVuEDLCZiDEghQCwqWMRmd7/j5wr9nve/kwuaZM80CDLC3bNzTH6xT93bUD49vWqNwxYkKAAvSchXVVXUMqNUOonWBkrkGA0V1U4C4QCWZQoLIi9EqQOlb1gk6cxEjbsAEWOaUQABoB0wB+q4gYx3awB6Vk1OMx7unP13vzbNDhK/uvH03vyeS9puRhZtI9stbazddWZDDs3WtFmAx0YHYBqgQIqryd/iHxVjo3wt0IOmxGlwTskjBbBBkTgzkGvT8Vae5bdANTaQWM6Yu8O0NHeWAUYBEb4InxXF8mkAdEwu0oyAuRM6TbVRpABPWKgAjUoGj0eA1NPiNKdPUjOJ8/jv7J69JpbL1H/8AQi6nTbVGhes0wxOVIhdhnVJA+LTtVK5ykznUXgOdQ5xFuKwXCFbiaVuAMQQDFtckkkTXlbdgrAUz0oWIOq5EtcLCRhTiCTGZAm4elwd/rEAqCJbSVEqggNcibbamJg3rTTOHbeu34eunPuwqzl2Qg6xsW26xBVkdSF6RLXH0FkDS1y5jW2lQSCRWwsg/V3AZj3ik5A1qLkHBMm68dVVVIE5o2WGuIAfBbSeZv46Wsq0IxXokM7Ki50oTANg8Rp3d7YiYu29VsBn1yW0ybZYbltV5gMACoxM9PX/RZV7amQjCIgtaMjSC9stIiYL8QwMfADtVpeLUAwlwAAgCACqhR95gQVtN49PiD24qlavk5F2y2SDqAPSnnGFwrcjs5y7GOiiDVtVi3zwjpICIJLW2kQTdlxzm4DG8/wD1G2ueyycT1/v034oTXK+t98wihpIgmelqHRx2axbt77Wm7qs2yT8RI7xjBmGx26Rcf99K5aBlADOywI2XUAq7ZBJZUeDG9y94GtqOkwWVzPV1FxqB2gdmoKgxlbLd9UWp4MmpTx+7rLeA2gmdlyJJ7xjrFR/262o0+A7u0iO/xAX/AH1z7XECOiGI7zjGmQe+SpZtt7w8KtqWO5A8th2b9wYHuxa8ax6ulnqozNZWrYExOdvz/wD2fUVcNVeCUESNvr/gD8asFe7+lZIr2Zeloc6ZZClKV1eUpSgUpSgocbyJZvNqcMWiAQ9xdO0ldLDSTABIgkYmKWeQ7CBgqAB4nLY0klQuegAWYgLEFidyav1xOB9odTX+d0olpo1Cej7y4mm5vDRbVycALdXzIX+SV9xa/Zp4nqDtq5XmeF9o3tWLZbhb1xNCQ/D6LqkaRkjUGG3cfynm8V7Y8+WtqGXA6KsnWDQwvls6MCQgPROSAZrRThtS/OI5OZh3OU+VwVlZayG0ObZl3bINu0oy+RDRnBAkgxyi0LnQ9op2nXb4O02+o7P0fVdI+ASK9u+5fUAbd7Y3Aqi2UPQVEssRoMgKWc6lOkSQQBY4a05KsFW0JB5pmL2y0kc5dO7XA4gtgho1AmGXZWns4xvf4nl1rm0IuFVRVua2sMxa20jnbz4h7rE4XOHMAiNUCA+73jXNLOP0hZAvj7G2AJa2qY1XI6ynfrSsBF38FyeFDyze8HTgAQJIfQPgAYwyjGdW5JN+wlu0gWFRUERsAAIZRPZkMO+a5fVx05zvcx0nv8FFtaI7t7/xR4TgXYyA1kHFzpHXfIHWLYZOyDhox0QAK6/DcKltQiABBMATADZGkdgk7CsBxIO0sdpG0jqmTjI/Ksg5PbA8O5u8+B8MCvL4j2mr16eG/PrjlCVNeuWVxu3t63qvRf5itR4GcE4grHgTqSfLbBrdIG+O/wD1DB+YqS84HlJwM9U1hmlo3v8ADVXiPo0XDpyBEdOB2aehcAHkfnXjOWeAW1dYCMSy6uaUw7EocAXLltT2g60KyCQYr3Srmdzv5H4gBXL9orBZAVkm2ZIDsjRB0lHVWKuJgCMyQcGRt4HXto6sRPSeW99Er3i1XhOJsA41LEASXUjROpnnngkMchwNBnPNvJrAWgNxgGY02AYUQqxq1BmO4BDnEi6M11LquoklgAdOpuctgM/Scnnry81cMmZU23kd8CnpBmApA3AgwqyEQqOdVM/C5Ns7qVr6K18woYcODAEDSTgQGTnHy0IddkkCZ5s2H3wCat8PeO6Fxkn3TTDH3YPNXNbK8A5Q3bhgxpmKp3bYBOvSGwrF9IbU+elzqIQAMAXCVGNLzWk8ceeFthEoWSVYnRb0qAoa6LkS8xavuDGFM1RaY7+9KK5z8HYa+C0E2WM6dNy2bbypHNoLbashiSLcHJ13CCIOYsDssW+wyulhCkBIJUFxqJzE3bkAdBarWrsAqCSFEFR79Qi5YPbIt3Qk9hW3bwCdc5WmSZizO5K3HsttJeNMqMqNfcdNpcyZVmY3+IcXLahTjh9OmYINpiNLaBBBOpwWYDfVefuTF1LjHC21jYLrwR9mFACnEA2gZH65ts1zwCsTbviIGLxWNKmc870NIMf+0hMyzQM9IGCl0x2M5UCEnpBrvQXSQCDJS3A61yreVt/6rtDrrdc5LqomdUd51hiWkdhuRGy2h21YsOrEbtsI625iJ2xCof8AuVyrIgyLRDd76dYIgiVGrIcqSo+I2kHVIrv8jWTuwAjqgEnYQekesBJE9pLH4qya2KRlmnS7dsOnbXSAN/HvOSTHn+dZzNTWLLXlPQiMRiGQpSlHSlKUClKUCuTyXYu87e50MbeoG3zhRjIZyxULOlY5sAYONpkt1qUFO7yYslkJtuclkgSf+pTKtvuRPjVTi7EiOJsJfX76pqjtk2mlh+6W9K69c/l7lI8PYa4CgIIA5wwssQAJ7zMbgZyQAa7EzHOBxF9iuEuDVw929aGRFu6xQGApBR9QU6QFjGMEdlVOI9mOMt9S6t/vDPdttlQG3LhpAAgxI7Zhl9Nc5Jt3CLhDLcKgaldseG+lh5gg1Ou9b3AvL3rC3B5qei3mCPBa1V4zWr1nPz3lGaRLxt3ieItE87wvEjxDm6vVnLq0EY0HVEqRJUjUdnBe0Vkn3YWR917esGJTtBLAyBIBZZUjUAD7XhuOS5OlsjdTIdZ21IYK+orXx3I1i/8Aa2rdwjYuikjyJEjar44yk8r1/iZ8p9VU6MS4lrlNjEBIO2l9UqcqFhc9rIQewrvIG8cdO9xBPdCg6vFiei4mDiGwc1W4r/D3hY92XsnwKuO0ZW8Hx0oIEVRb2Q4y39lesXRO1yzzZjAI1LqBlRpMrkBTkgNU4nh79LY+cflTbh5dy1x9s5DajvIljHwsSJiOqwrenFE7KRvg4OOssDMjcDBjavK3bnH2j72xcYA9ayqXQewtBuF8ggGVyFIOenWke1SKwW4162douc3aI0Eqek0ZHWDd3RbA1V2eD7ce7MT9cqp0rV6b3vL2oPee7wWfhM9zDFQbqlSOspBBAGNJww7sE15uxy5aOYU95a4kAAww67MAJB70J3KmavW+WwSOnaXP3gzSMHAI6QEAgdYZWazX4KY7ke1eu/XfycPlHguavFRGuDpgKLxVskLi5d4tAJkYYQc7RU4iJXVtkLqJwq4Kpz7XHQk45q5aAwQNpr0XHOt61pVg7CCohzb1T0QTbZQQWko2rfxFebvzaw3QB6B1FUkIJZdRFqzeE403AzdbJzWqnaxz6telqduGEFJH2ZQAbtaKF+0qOaezj7qXLRkYxFc3loi3zVyAAlxWAwC1s+5JW3FsXTDzNtp6Ilc10tRBCKNLDpBALiFTdMStpObu2sDdFurk4NVeIVXtXE+G4CG06QCNJVdRtoELFiTN2whH3ujJlMTMb38VqxbWW0HJTrCGdkC9J2ChUv2TMAMbX3TzmZrbw98viWaTOCt1ZMF2hvezpwSpZgGzdWK5nJ/Fh+HtagOqBBjSrrJv82LjBAdYI91etntjGbV+6SIecmTzgB6bSZYX9L4XaXYiYFypRGRvRraxAspgHd+HgM0qRjTgAREoGGOdeK3W7o/6R2yOJfGdR6+xHX6XVbpv0tKVXS84gS6kmeteQhnGlcXNShtPbzgJke8YHSfRcj+zNxiHu6lUHqkW9TBR7sgi2umMxhdOowqnpGy2pXTjNp+/9OYyjkXkjnm6SQgGTrdskkwA22DInK6mY9N+j7DmxAECBECMCNoHhFVzfs2FVCUtjZVJC7ZhR2+lYDlIt9nbuP4kaF+bwY8ga8jX1p1bZ7k61iFrQRscdx9e3fu+VBc7Dg/0nHfvVXRfbdktjuUF29GaAD+6aHklG+0L3fB2JU+dsQh/21nSXRSuRx3GDhms27egC7cC6XcgwSAwtzgQGmPAKBLCOvQKUpQKUpQKUpQKGlKBSlKDn8WLd25zRU84qa1aCNOolei4IMyMgEYjvrG3w9+0I18+O3VCXPRlhW8AQD3tV/mF1a4GqNM9umZjyms6Crw3KCM2nKvvocaX8SAesPFZHjVqtHG27ZQ86F0KNRLRC6c6p7I3nsrn2GuaVbhmF220yLzMCoBggPpL6pkEODGkjFB16wu2lYaWAZTuCAQfQ1Vt8pCQrzacmArQAxkQFfKsfAGfAVc0ig4nE+x3A3DP6PbBmZQaDnc6kKk/Puqhd9hLcyl/ibW36wXBsSw94GO+cncA7gV6ulaK8VrV6WnfwRmsS8Zd9jeLB6PFi4pJkXEdTpYAEakuQSQMmBJ3B2HP4r2X5QOSlhnaFZ7N64HKAyVfnRDLgQpDRkAgV9BK91U7/LNpJBbURMi2GuMI71QEj5VfHH6vfET9PTCPsq9Xy+5yHyjbWDwjaAx6KG06SxguLCsV1BcAqgOTkVjb4HjDn9G4gEQRqRyRBi2obWXAEljDgHu3r6inHXLgBt2+ichrjgAg7EBdRPkY9Ky/Q7rde7HhaUL82bUfURUv1+etI+/rLvZfLeS/Z7iluX7bLohg7NcdQeavy0npkOGupd65YgDY12eTPZpGwb7XCJDLwswGY5IuAJbGMQyn859FxfJtuzx3D3NOoXVuWCXJc6wOetGXJIxbvD9+utyuHFpjanX0QSoBcJrHOaAQQWCayAQcxg1TPF6mMRiHezCjybyObX2Vm1aP3n6b4EdRIUSB8LR+VX/8uJ69243gp5tf/CG+bGtnJpuGzb537TQuvbrQNW2N+6rNZbWm05lJVTkqyNrVvcHqiZGxmJnxrHg79xrl5XUBUYBCAekpRSSScE6iwxjarlK4FKUoEUpSgUpSgUpSgUpSgUpSgUpSgUpSg1cXwq3bb226rqynyYFTnyNYcBwQtIEBZssxZo1MzsXcmABlmJwAKsUoMbtoMCrAMDggiQR3EHeqf+Xsn2LlR9x5a36Z1J6GB901ern3uTWa5bc3CebuFwIjDWrlvTiJ+0Bkz1fGg1pyw5bRzFwMSQDtaJG8XDBjzUT2A71v5u+27pbHcg1t6O8D/wAKu1xm4biG4q0zSEUNJt3DoJIYBWtkidwZhjIWNMGQuf5Sh6+q7+0Ykf7MIPRat27YUAKAANgBAHoKypQUeVUvNbdbUKTbYKwaHW4VOnSCpXeMk9+KuW5gTvGfPtrKlBxva1D+itcAluHK8QO88wwuMo/1IrL+9XXtuGAIMgiQRsQdjUuoIIOQcHy7a4/sk5HCraJluHZ+HPfFhiiE/wCpAjfvUHZpSlApSlApSlApSlApSlApSlApSlApSlApSlApSlApSlApSlApSlApSlApSlAri8F7vj76dl9Evr4unuL0eSrY/wB1dquRyxYYX+FvIpOi41t9Ik81fWCY7hcSyT3BTQdelKUClKUClKUClKUClKUClKUClKUClKUClKUClKUClKUClKUClKUClKUCufy/yt+i8O97Tq0aSRtgsFPrBn0roVhdtKwhgGGMEAjBkYPiAaDxnDf4oWSvTRlaAxC5ABE6ZMEt1uyMZIq4f8RuGwNF7UY6OlJz4642zv8Ajiu+eSbH/pWs79Bf5eNT/lVmZ5q3MROhZjumNqDln2wtc7ZtKlwteCNJ0gKLilhOckQJA79618P7TO3Dve0ICti1fAk7XVLlSY3AXfxrt/oFrUG5tNSgAHSsgDYAxIAk48awXkuyAALagKNIEYCkREbRBI9T30Ecm8abqsSACty4mDIi3cZQZ8QASOwyKt1rs2FQQoCglmgfedizHzLEn1rZQKUpQKUpQKUpQ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7286" name="Picture 6" descr="http://upload.wikimedia.org/wikipedia/commons/thumb/3/32/Rosenbrock_function.svg/300px-Rosenbrock_function.sv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2209800"/>
            <a:ext cx="5867400" cy="4400550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3352800" y="1905001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-2 </a:t>
            </a:r>
            <a:r>
              <a:rPr lang="en-US" sz="2400" u="sng" dirty="0"/>
              <a:t>&lt;</a:t>
            </a:r>
            <a:r>
              <a:rPr lang="en-US" sz="2400" dirty="0"/>
              <a:t> x </a:t>
            </a:r>
            <a:r>
              <a:rPr lang="en-US" sz="2400" u="sng" dirty="0"/>
              <a:t>&lt;</a:t>
            </a:r>
            <a:r>
              <a:rPr lang="en-US" sz="2400" dirty="0"/>
              <a:t> 2, -1 </a:t>
            </a:r>
            <a:r>
              <a:rPr lang="en-US" sz="2400" u="sng" dirty="0"/>
              <a:t>&lt;</a:t>
            </a:r>
            <a:r>
              <a:rPr lang="en-US" sz="2400" dirty="0"/>
              <a:t> y </a:t>
            </a:r>
            <a:r>
              <a:rPr lang="en-US" sz="2400" u="sng" dirty="0"/>
              <a:t>&lt;</a:t>
            </a:r>
            <a:r>
              <a:rPr lang="en-US" sz="2400" dirty="0"/>
              <a:t>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ChangeArrowheads="1"/>
          </p:cNvSpPr>
          <p:nvPr/>
        </p:nvSpPr>
        <p:spPr bwMode="auto">
          <a:xfrm>
            <a:off x="533400" y="1828800"/>
            <a:ext cx="82296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sz="2400" dirty="0">
                <a:solidFill>
                  <a:srgbClr val="009900"/>
                </a:solidFill>
              </a:rPr>
              <a:t>Step 1:</a:t>
            </a:r>
            <a:r>
              <a:rPr lang="en-US" sz="2400" dirty="0"/>
              <a:t> Initialize the population randomly or with potentially good </a:t>
            </a:r>
            <a:r>
              <a:rPr lang="en-US" sz="2400" b="1" i="1" dirty="0">
                <a:solidFill>
                  <a:srgbClr val="0000FF"/>
                </a:solidFill>
              </a:rPr>
              <a:t>solutions</a:t>
            </a:r>
            <a:r>
              <a:rPr lang="en-US" sz="2400" dirty="0"/>
              <a:t>.</a:t>
            </a:r>
          </a:p>
          <a:p>
            <a:pPr marL="342900" indent="-342900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sz="2400" dirty="0">
                <a:solidFill>
                  <a:srgbClr val="009900"/>
                </a:solidFill>
              </a:rPr>
              <a:t>Step 2:</a:t>
            </a:r>
            <a:r>
              <a:rPr lang="en-US" sz="2400" dirty="0"/>
              <a:t> Compute the </a:t>
            </a:r>
            <a:r>
              <a:rPr lang="en-US" sz="2400" b="1" i="1" dirty="0">
                <a:solidFill>
                  <a:srgbClr val="0000FF"/>
                </a:solidFill>
              </a:rPr>
              <a:t>fitness</a:t>
            </a:r>
            <a:r>
              <a:rPr lang="en-US" sz="2400" dirty="0"/>
              <a:t> of each individual in the population.</a:t>
            </a:r>
            <a:endParaRPr lang="en-US" sz="2400" dirty="0">
              <a:sym typeface="Symbol" pitchFamily="18" charset="2"/>
            </a:endParaRPr>
          </a:p>
          <a:p>
            <a:pPr marL="342900" indent="-342900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sz="2400" dirty="0">
                <a:solidFill>
                  <a:srgbClr val="009900"/>
                </a:solidFill>
                <a:sym typeface="Symbol" pitchFamily="18" charset="2"/>
              </a:rPr>
              <a:t>Step 3:</a:t>
            </a:r>
            <a:r>
              <a:rPr lang="en-US" sz="2400" dirty="0">
                <a:sym typeface="Symbol" pitchFamily="18" charset="2"/>
              </a:rPr>
              <a:t> Select parents using a </a:t>
            </a:r>
            <a:r>
              <a:rPr lang="en-US" sz="2400" b="1" i="1" dirty="0">
                <a:solidFill>
                  <a:srgbClr val="0000FF"/>
                </a:solidFill>
                <a:sym typeface="Symbol" pitchFamily="18" charset="2"/>
              </a:rPr>
              <a:t>selection procedure</a:t>
            </a:r>
            <a:r>
              <a:rPr lang="en-US" sz="2400" dirty="0">
                <a:sym typeface="Symbol" pitchFamily="18" charset="2"/>
              </a:rPr>
              <a:t>.</a:t>
            </a:r>
          </a:p>
          <a:p>
            <a:pPr marL="342900" indent="-342900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sz="2400" dirty="0">
                <a:solidFill>
                  <a:srgbClr val="009900"/>
                </a:solidFill>
                <a:sym typeface="Symbol" pitchFamily="18" charset="2"/>
              </a:rPr>
              <a:t>Step 4:</a:t>
            </a:r>
            <a:r>
              <a:rPr lang="en-US" sz="2400" dirty="0">
                <a:sym typeface="Symbol" pitchFamily="18" charset="2"/>
              </a:rPr>
              <a:t> Create offspring by </a:t>
            </a:r>
            <a:r>
              <a:rPr lang="en-US" sz="2400" b="1" i="1" dirty="0">
                <a:solidFill>
                  <a:srgbClr val="0000FF"/>
                </a:solidFill>
                <a:sym typeface="Symbol" pitchFamily="18" charset="2"/>
              </a:rPr>
              <a:t>crossover</a:t>
            </a:r>
            <a:r>
              <a:rPr lang="en-US" sz="2400" dirty="0">
                <a:sym typeface="Symbol" pitchFamily="18" charset="2"/>
              </a:rPr>
              <a:t> and </a:t>
            </a:r>
            <a:r>
              <a:rPr lang="en-US" sz="2400" b="1" i="1" dirty="0">
                <a:solidFill>
                  <a:srgbClr val="0000FF"/>
                </a:solidFill>
                <a:sym typeface="Symbol" pitchFamily="18" charset="2"/>
              </a:rPr>
              <a:t>mutation</a:t>
            </a:r>
            <a:r>
              <a:rPr lang="en-US" sz="2400" dirty="0">
                <a:sym typeface="Symbol" pitchFamily="18" charset="2"/>
              </a:rPr>
              <a:t> operators.</a:t>
            </a:r>
          </a:p>
          <a:p>
            <a:pPr marL="342900" indent="-342900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sz="2400" dirty="0">
                <a:solidFill>
                  <a:srgbClr val="009900"/>
                </a:solidFill>
              </a:rPr>
              <a:t>Step 5:</a:t>
            </a:r>
            <a:r>
              <a:rPr lang="en-US" sz="2400" dirty="0"/>
              <a:t> Compute the </a:t>
            </a:r>
            <a:r>
              <a:rPr lang="en-US" sz="2400" b="1" i="1" dirty="0">
                <a:solidFill>
                  <a:srgbClr val="0000FF"/>
                </a:solidFill>
              </a:rPr>
              <a:t>fitness</a:t>
            </a:r>
            <a:r>
              <a:rPr lang="en-US" sz="2400" dirty="0"/>
              <a:t> of the new offspring.</a:t>
            </a:r>
            <a:endParaRPr lang="en-US" sz="2400" dirty="0">
              <a:sym typeface="Symbol" pitchFamily="18" charset="2"/>
            </a:endParaRPr>
          </a:p>
          <a:p>
            <a:pPr marL="342900" indent="-342900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sz="2400" dirty="0">
                <a:solidFill>
                  <a:srgbClr val="009900"/>
                </a:solidFill>
                <a:sym typeface="Symbol" pitchFamily="18" charset="2"/>
              </a:rPr>
              <a:t>Step 6:</a:t>
            </a:r>
            <a:r>
              <a:rPr lang="en-US" sz="2400" dirty="0">
                <a:sym typeface="Symbol" pitchFamily="18" charset="2"/>
              </a:rPr>
              <a:t> Select members of population to die using a </a:t>
            </a:r>
            <a:r>
              <a:rPr lang="en-US" sz="2400" b="1" i="1" dirty="0">
                <a:solidFill>
                  <a:srgbClr val="0000FF"/>
                </a:solidFill>
                <a:sym typeface="Symbol" pitchFamily="18" charset="2"/>
              </a:rPr>
              <a:t>selection procedure</a:t>
            </a:r>
            <a:r>
              <a:rPr lang="en-US" sz="2400" dirty="0">
                <a:sym typeface="Symbol" pitchFamily="18" charset="2"/>
              </a:rPr>
              <a:t>.</a:t>
            </a:r>
          </a:p>
          <a:p>
            <a:pPr marL="342900" indent="-342900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sz="2400" dirty="0">
                <a:solidFill>
                  <a:srgbClr val="009900"/>
                </a:solidFill>
                <a:sym typeface="Symbol" pitchFamily="18" charset="2"/>
              </a:rPr>
              <a:t>Step 7:</a:t>
            </a:r>
            <a:r>
              <a:rPr lang="en-US" sz="2400" dirty="0">
                <a:sym typeface="Symbol" pitchFamily="18" charset="2"/>
              </a:rPr>
              <a:t> Go to Step 2 until termination criteria are met.</a:t>
            </a:r>
          </a:p>
          <a:p>
            <a:pPr marL="342900" indent="-342900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69987" name="Rectangle 3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4400">
                <a:solidFill>
                  <a:srgbClr val="0000FF"/>
                </a:solidFill>
              </a:rPr>
              <a:t>A Typical Evolutionary Algorithm Cycle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40BC3-E87C-4B22-9705-DBDF185747DE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9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9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9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9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9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9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9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9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9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9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99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99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99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99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Assignment 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267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Let’s pick the population size to 10. So initialize 10 individuals of the form (x, y) randomly.</a:t>
            </a:r>
          </a:p>
          <a:p>
            <a:r>
              <a:rPr lang="en-US" dirty="0"/>
              <a:t>Compute their fitness. </a:t>
            </a:r>
          </a:p>
          <a:p>
            <a:r>
              <a:rPr lang="en-US" dirty="0"/>
              <a:t>Using one of the parent selection scheme, generate 10 offspring (using crossover and mutation). For mutation, you can use +/- 0.25.  Remember that mutation is not applied to each gene. So you need to make it probabilistic as well.</a:t>
            </a:r>
          </a:p>
          <a:p>
            <a:r>
              <a:rPr lang="en-US" dirty="0"/>
              <a:t>Compute fitness of the offspring.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C241-F1F2-4AEB-ADA0-0912DAD86992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Assignment Implementation Details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Now you got 10 parents and 10 offspring (20 individuals.</a:t>
            </a:r>
          </a:p>
          <a:p>
            <a:r>
              <a:rPr lang="en-US" dirty="0"/>
              <a:t>Using one of the survival selection scheme, pick 10 individuals that survive to the next generation. Discard the remaining individuals.</a:t>
            </a:r>
          </a:p>
          <a:p>
            <a:r>
              <a:rPr lang="en-US" dirty="0"/>
              <a:t>Store best survived individual’s fitness and average fitness of the whole survived individual.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C241-F1F2-4AEB-ADA0-0912DAD86992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Assignment Implementation Details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you run this process for 40 generations. You will have recorded the following observations.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C241-F1F2-4AEB-ADA0-0912DAD86992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3352800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Generation</a:t>
                      </a:r>
                      <a:r>
                        <a:rPr lang="en-US" baseline="0" dirty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Best Fitness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Fitness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Best-So-Far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9049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You need to repeat this exercise (for a single combination of parent and survival selection schemes) 10 times). </a:t>
            </a:r>
          </a:p>
          <a:p>
            <a:r>
              <a:rPr lang="en-US" dirty="0"/>
              <a:t>Each run will start with new randomly initialized population.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C241-F1F2-4AEB-ADA0-0912DAD86992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1" y="3500120"/>
          <a:ext cx="7924798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Generation</a:t>
                      </a:r>
                      <a:r>
                        <a:rPr lang="en-US" baseline="0" dirty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Run # 1 BSF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Run # 2 BSF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Run # 10 BSF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BSF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</a:t>
            </a:r>
            <a:r>
              <a:rPr lang="en-US" dirty="0" err="1"/>
              <a:t>Average</a:t>
            </a:r>
            <a:r>
              <a:rPr lang="en-US" dirty="0"/>
              <a:t>-Fitness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9049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You need to repeat this exercise (for a single combination of parent and survival selection schemes 10 times) for average fitness values. </a:t>
            </a:r>
          </a:p>
          <a:p>
            <a:r>
              <a:rPr lang="en-US" dirty="0"/>
              <a:t>Each run will start with new randomly initialized population.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C241-F1F2-4AEB-ADA0-0912DAD86992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1" y="3500120"/>
          <a:ext cx="7924798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Generation</a:t>
                      </a:r>
                      <a:r>
                        <a:rPr lang="en-US" baseline="0" dirty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Run # 1 Avg.</a:t>
                      </a:r>
                      <a:r>
                        <a:rPr lang="en-US" baseline="0" dirty="0"/>
                        <a:t> Fit.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Run # 2 Avg.</a:t>
                      </a:r>
                      <a:r>
                        <a:rPr lang="en-US" baseline="0" dirty="0"/>
                        <a:t> Fit.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Run # 10 Avg.</a:t>
                      </a:r>
                      <a:r>
                        <a:rPr lang="en-US" baseline="0" dirty="0"/>
                        <a:t> Fit.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Avg.</a:t>
                      </a:r>
                      <a:r>
                        <a:rPr lang="en-US" baseline="0" dirty="0"/>
                        <a:t> Fit.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Assignment Implementation Details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Once you have gotten (a) average best-so-far values and average </a:t>
            </a:r>
            <a:r>
              <a:rPr lang="en-US" dirty="0" err="1"/>
              <a:t>average</a:t>
            </a:r>
            <a:r>
              <a:rPr lang="en-US" dirty="0"/>
              <a:t>-fitness, you need to plot the values against generation # (separate graphs).</a:t>
            </a:r>
          </a:p>
          <a:p>
            <a:r>
              <a:rPr lang="en-US" dirty="0"/>
              <a:t>The scheme described in the previous slides will be repeated for each combination of parent and survival selections, i.e.,</a:t>
            </a:r>
          </a:p>
          <a:p>
            <a:pPr lvl="1"/>
            <a:r>
              <a:rPr lang="en-US" dirty="0"/>
              <a:t>FPS and Truncation</a:t>
            </a:r>
          </a:p>
          <a:p>
            <a:pPr lvl="1"/>
            <a:r>
              <a:rPr lang="en-US" dirty="0"/>
              <a:t>RBS and Truncation</a:t>
            </a:r>
          </a:p>
          <a:p>
            <a:pPr lvl="1"/>
            <a:r>
              <a:rPr lang="en-US" dirty="0"/>
              <a:t>Binary Tournament and Truncation</a:t>
            </a:r>
          </a:p>
          <a:p>
            <a:pPr lvl="1"/>
            <a:r>
              <a:rPr lang="en-US" dirty="0"/>
              <a:t>FPS and Binary Tournament</a:t>
            </a:r>
          </a:p>
          <a:p>
            <a:pPr lvl="1"/>
            <a:r>
              <a:rPr lang="en-US" dirty="0"/>
              <a:t>RBS and Binary Tournament</a:t>
            </a:r>
          </a:p>
          <a:p>
            <a:pPr lvl="1"/>
            <a:r>
              <a:rPr lang="en-US" dirty="0"/>
              <a:t>Binary Tournament and Binary Tournament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C241-F1F2-4AEB-ADA0-0912DAD86992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Indicator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Best-so-far (BSF) - </a:t>
            </a:r>
            <a:r>
              <a:rPr lang="en-US" dirty="0"/>
              <a:t> We record the best solution found by the algorithm thus far for each generation in every run.</a:t>
            </a:r>
            <a:endParaRPr lang="en-US" i="1" dirty="0"/>
          </a:p>
          <a:p>
            <a:r>
              <a:rPr lang="en-US" b="1" dirty="0"/>
              <a:t>Average-of-current-population (ACP) -  </a:t>
            </a:r>
            <a:r>
              <a:rPr lang="en-US" dirty="0"/>
              <a:t>We record the average solution in each generation in every run.</a:t>
            </a:r>
          </a:p>
          <a:p>
            <a:r>
              <a:rPr lang="en-US" b="1" dirty="0"/>
              <a:t>Worst-of-current-population (WCP) - </a:t>
            </a:r>
            <a:r>
              <a:rPr lang="en-US" dirty="0"/>
              <a:t>We record the worst solution in each generation in every run.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C241-F1F2-4AEB-ADA0-0912DAD86992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Graph using </a:t>
            </a:r>
            <a:r>
              <a:rPr lang="en-US" dirty="0" err="1"/>
              <a:t>Boxplot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C241-F1F2-4AEB-ADA0-0912DAD86992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 l="48750" t="36269" r="17500" b="11917"/>
          <a:stretch>
            <a:fillRect/>
          </a:stretch>
        </p:blipFill>
        <p:spPr bwMode="auto">
          <a:xfrm>
            <a:off x="2057400" y="1447800"/>
            <a:ext cx="5257800" cy="4868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Performance Description and Comparison of 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429000" cy="4876800"/>
          </a:xfrm>
        </p:spPr>
        <p:txBody>
          <a:bodyPr>
            <a:normAutofit fontScale="92500" lnSpcReduction="20000"/>
          </a:bodyPr>
          <a:lstStyle/>
          <a:p>
            <a:r>
              <a:rPr lang="en-US" i="1" dirty="0"/>
              <a:t>Statistical visualization </a:t>
            </a:r>
            <a:r>
              <a:rPr lang="en-US" dirty="0"/>
              <a:t>uses graphs to describe and compare EAs, which is very illustrative. </a:t>
            </a:r>
          </a:p>
          <a:p>
            <a:r>
              <a:rPr lang="en-US" dirty="0"/>
              <a:t>The box plot is the most useful way to graphically illustrate the performance of EAs.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C241-F1F2-4AEB-ADA0-0912DAD86992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l="48750" t="36269" r="19457" b="11917"/>
          <a:stretch>
            <a:fillRect/>
          </a:stretch>
        </p:blipFill>
        <p:spPr bwMode="auto">
          <a:xfrm>
            <a:off x="4038600" y="1600200"/>
            <a:ext cx="4953000" cy="4868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Performance Description and Comparison of EA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876800"/>
          </a:xfrm>
        </p:spPr>
        <p:txBody>
          <a:bodyPr>
            <a:normAutofit/>
          </a:bodyPr>
          <a:lstStyle/>
          <a:p>
            <a:r>
              <a:rPr lang="en-US" i="1" dirty="0"/>
              <a:t>Descriptive Statistics </a:t>
            </a:r>
            <a:r>
              <a:rPr lang="en-US" dirty="0"/>
              <a:t>- Graphs are easy to understand, but sometimes the difference between different algorithms is small. Then we need specific numbers to describe and compare the performance. </a:t>
            </a:r>
          </a:p>
          <a:p>
            <a:r>
              <a:rPr lang="en-US" dirty="0"/>
              <a:t>The most often used </a:t>
            </a:r>
            <a:r>
              <a:rPr lang="en-US" i="1" dirty="0"/>
              <a:t>descriptive statistics are mean and variance (or standard </a:t>
            </a:r>
            <a:r>
              <a:rPr lang="en-US" dirty="0"/>
              <a:t>deviation).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C241-F1F2-4AEB-ADA0-0912DAD86992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Performance Description and Comparison of EA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876800"/>
          </a:xfrm>
        </p:spPr>
        <p:txBody>
          <a:bodyPr>
            <a:normAutofit lnSpcReduction="10000"/>
          </a:bodyPr>
          <a:lstStyle/>
          <a:p>
            <a:r>
              <a:rPr lang="en-US" i="1" dirty="0"/>
              <a:t>Statistical Inference </a:t>
            </a:r>
            <a:r>
              <a:rPr lang="en-US" dirty="0"/>
              <a:t>- Sometimes descriptive statistics is also not strong enough to differentiate between two results, in which case we need </a:t>
            </a:r>
            <a:r>
              <a:rPr lang="en-US" i="1" dirty="0"/>
              <a:t>statistical inference. </a:t>
            </a:r>
          </a:p>
          <a:p>
            <a:r>
              <a:rPr lang="en-US" i="1" dirty="0"/>
              <a:t>Statistical inference includes </a:t>
            </a:r>
            <a:r>
              <a:rPr lang="en-US" dirty="0"/>
              <a:t>parameter estimation, hypothesis testing, and many other techniques. </a:t>
            </a:r>
          </a:p>
          <a:p>
            <a:r>
              <a:rPr lang="en-US" dirty="0"/>
              <a:t>Here we focus on hypothesis testing to verify whether the difference between two results is statistically significant.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C241-F1F2-4AEB-ADA0-0912DAD86992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Evolution of Bipedal Walk for </a:t>
            </a:r>
            <a:r>
              <a:rPr lang="en-US" dirty="0" err="1"/>
              <a:t>RoboCup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C241-F1F2-4AEB-ADA0-0912DAD86992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7" name="Chart 6"/>
          <p:cNvGraphicFramePr/>
          <p:nvPr/>
        </p:nvGraphicFramePr>
        <p:xfrm>
          <a:off x="1295400" y="1600200"/>
          <a:ext cx="6753225" cy="4200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Evolution of Bipedal Walk for </a:t>
            </a:r>
            <a:r>
              <a:rPr lang="en-US" dirty="0" err="1"/>
              <a:t>RoboCup</a:t>
            </a:r>
            <a:r>
              <a:rPr lang="en-US" dirty="0"/>
              <a:t> (Cont’d)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2C241-F1F2-4AEB-ADA0-0912DAD86992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6" name="Chart 5"/>
          <p:cNvGraphicFramePr/>
          <p:nvPr/>
        </p:nvGraphicFramePr>
        <p:xfrm>
          <a:off x="1219200" y="1676400"/>
          <a:ext cx="6753225" cy="4200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780E-F9C3-47D1-A1DB-B3EC49586987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296970" name="Picture 10"/>
          <p:cNvPicPr>
            <a:picLocks noChangeAspect="1" noChangeArrowheads="1"/>
          </p:cNvPicPr>
          <p:nvPr/>
        </p:nvPicPr>
        <p:blipFill>
          <a:blip r:embed="rId3" cstate="print"/>
          <a:srcRect l="4225" t="17741" r="7042"/>
          <a:stretch>
            <a:fillRect/>
          </a:stretch>
        </p:blipFill>
        <p:spPr bwMode="auto">
          <a:xfrm>
            <a:off x="336550" y="1784350"/>
            <a:ext cx="4278313" cy="346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96971" name="Picture 11"/>
          <p:cNvPicPr>
            <a:picLocks noChangeAspect="1" noChangeArrowheads="1"/>
          </p:cNvPicPr>
          <p:nvPr/>
        </p:nvPicPr>
        <p:blipFill>
          <a:blip r:embed="rId4" cstate="print"/>
          <a:srcRect l="2817" t="17741" r="7042"/>
          <a:stretch>
            <a:fillRect/>
          </a:stretch>
        </p:blipFill>
        <p:spPr bwMode="auto">
          <a:xfrm>
            <a:off x="4672013" y="1798638"/>
            <a:ext cx="4322762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vs. Heuristic based Initialization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vs. Heuristic based Initialization (Cont’d)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780E-F9C3-47D1-A1DB-B3EC49586987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400390" name="Picture 6"/>
          <p:cNvPicPr>
            <a:picLocks noChangeAspect="1" noChangeArrowheads="1"/>
          </p:cNvPicPr>
          <p:nvPr/>
        </p:nvPicPr>
        <p:blipFill>
          <a:blip r:embed="rId3" cstate="print"/>
          <a:srcRect l="2817" t="16129" r="7042"/>
          <a:stretch>
            <a:fillRect/>
          </a:stretch>
        </p:blipFill>
        <p:spPr bwMode="auto">
          <a:xfrm>
            <a:off x="369082" y="1804003"/>
            <a:ext cx="4204959" cy="3417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0391" name="Picture 7"/>
          <p:cNvPicPr>
            <a:picLocks noChangeAspect="1" noChangeArrowheads="1"/>
          </p:cNvPicPr>
          <p:nvPr/>
        </p:nvPicPr>
        <p:blipFill>
          <a:blip r:embed="rId4" cstate="print"/>
          <a:srcRect l="1408" t="17741" r="7042"/>
          <a:stretch>
            <a:fillRect/>
          </a:stretch>
        </p:blipFill>
        <p:spPr bwMode="auto">
          <a:xfrm>
            <a:off x="4637925" y="1752601"/>
            <a:ext cx="4429875" cy="3475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14559</TotalTime>
  <Words>828</Words>
  <Application>Microsoft Office PowerPoint</Application>
  <PresentationFormat>On-screen Show (4:3)</PresentationFormat>
  <Paragraphs>123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Symbol</vt:lpstr>
      <vt:lpstr>Office Theme</vt:lpstr>
      <vt:lpstr>Evolutionary Algorithm</vt:lpstr>
      <vt:lpstr>Assignment # 1 (Function 1)</vt:lpstr>
      <vt:lpstr>Assignment # 1 (Function 2)</vt:lpstr>
      <vt:lpstr>PowerPoint Presentation</vt:lpstr>
      <vt:lpstr>Assignment Implementation Details</vt:lpstr>
      <vt:lpstr>Assignment Implementation Details (Cont’d)</vt:lpstr>
      <vt:lpstr>Assignment Implementation Details (Cont’d)</vt:lpstr>
      <vt:lpstr>Average Best-So-Far</vt:lpstr>
      <vt:lpstr>Average Average-Fitness</vt:lpstr>
      <vt:lpstr>Assignment Implementation Details (Cont’d)</vt:lpstr>
      <vt:lpstr>Performance Indicator</vt:lpstr>
      <vt:lpstr>Performance Graph using Boxplot</vt:lpstr>
      <vt:lpstr>Performance Description and Comparison of EA</vt:lpstr>
      <vt:lpstr>Performance Description and Comparison of EA (Cont’d)</vt:lpstr>
      <vt:lpstr>Performance Description and Comparison of EA (Cont’d)</vt:lpstr>
      <vt:lpstr>Evolution of Bipedal Walk for RoboCup</vt:lpstr>
      <vt:lpstr>Evolution of Bipedal Walk for RoboCup (Cont’d)</vt:lpstr>
      <vt:lpstr>Random vs. Heuristic based Initialization</vt:lpstr>
      <vt:lpstr>Random vs. Heuristic based Initialization (Cont’d)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Intelligence</dc:title>
  <dc:creator>sahaider</dc:creator>
  <cp:lastModifiedBy>asma larik</cp:lastModifiedBy>
  <cp:revision>82</cp:revision>
  <dcterms:created xsi:type="dcterms:W3CDTF">2011-02-16T08:21:07Z</dcterms:created>
  <dcterms:modified xsi:type="dcterms:W3CDTF">2026-03-01T22:24:07Z</dcterms:modified>
</cp:coreProperties>
</file>