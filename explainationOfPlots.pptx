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DM Sans" panose="020B0604020202020204" charset="0"/>
      <p:regular r:id="rId19"/>
      <p:bold r:id="rId20"/>
      <p:italic r:id="rId21"/>
      <p:boldItalic r:id="rId22"/>
    </p:embeddedFont>
    <p:embeddedFont>
      <p:font typeface="Merriweather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9D837E-EE33-4BA4-98C9-754F38B86DEA}">
  <a:tblStyle styleId="{C49D837E-EE33-4BA4-98C9-754F38B86DE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72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99907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6636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640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7082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5602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0817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9576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61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327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1866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6538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3105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0943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275397" y="2671762"/>
            <a:ext cx="9641205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Analyzing GA Performance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504950" y="3700462"/>
            <a:ext cx="9182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Understanding Best-So-Far (BSF) and Average Current Population (ACP) Metrics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571500" y="2190750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Evolutionary Algorithms (EAs) attempt to find the absolute minimum point in a complex mathematical landscape. We evaluated our selection schemes on two distinct functions: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752475" y="31051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809625" y="310515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Sphere Function: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A smooth, continuous, convex landscape where the minimum is easily accessible.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752475" y="37623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09625" y="3762375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Rosenbrock Function: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A non-convex function featuring a long, narrow, parabolic flat valley that challenges optimization algorithms.</a:t>
            </a:r>
            <a:endParaRPr/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695676"/>
            <a:ext cx="2361604" cy="300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9075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Optimization Problem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00250"/>
            <a:ext cx="3429000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1500" y="2000250"/>
            <a:ext cx="3429000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1500" y="2000250"/>
            <a:ext cx="342900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1040844" y="3086100"/>
            <a:ext cx="249031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Parent Selection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66775" y="3609975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Determines which individuals mate. We compared Fitness Proportionate Selection (FPS), Rank-Based Selection (RBS), and Binary Tournament Selection.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605813" y="3086100"/>
            <a:ext cx="2980372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Variation Operators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676775" y="3990975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Arithmetic crossover creates new offspring by interpolating between parents. Mutation adds a random variance (prob=0.3) to search new areas.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530828" y="3086100"/>
            <a:ext cx="275034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Survival Selection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486775" y="360997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Determines who lives to the next generation. We tested Truncation (keeping the absolute fittest) versus Tournament survival.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8825" y="235267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95975" y="235267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77400" y="23526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Algorithm Components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/>
        </p:nvSpPr>
        <p:spPr>
          <a:xfrm>
            <a:off x="571500" y="2552700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BSF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3981450"/>
            <a:ext cx="52863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Monotonically Decreasing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334125" y="2552700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Ultimate Discovery Metric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334125" y="3076575"/>
            <a:ext cx="52863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"Average Best-So-Far" (BSF) tracks the absolute lowest objective value found from generation zero up to the current generation. It is averaged over 10 independent runs to eliminate stochastic noise.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334125" y="4248150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Because it records the best solution historically, this curve </a:t>
            </a: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never worsens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 It is a direct measure of the algorithm's pure exploitation capabilities and its success in finding the global minimum.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Metric 1: Best-So-Far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571500" y="2681287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ACP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71500" y="4110037"/>
            <a:ext cx="52863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Dynamic &amp; Fluctuating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6334125" y="2681287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The Population Health Metric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334125" y="320516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The "Average of Current Population" (ACP) is the mean objective value of all individuals currently alive in a specific generation.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334125" y="3862387"/>
            <a:ext cx="52863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Unlike BSF, the ACP curve can fluctuate. When the algorithm undergoes heavy mutation or uses a loose survival selection, the overall population fitness drops (increasing objective value), signifying broad exploration of the search space.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Metric 2: Average Pop.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/>
        </p:nvSpPr>
        <p:spPr>
          <a:xfrm>
            <a:off x="571500" y="571500"/>
            <a:ext cx="5550693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Exploitation vs. Exploration</a:t>
            </a:r>
            <a:endParaRPr/>
          </a:p>
        </p:txBody>
      </p:sp>
      <p:pic>
        <p:nvPicPr>
          <p:cNvPr id="140" name="Google Shape;14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71500" y="1905000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Visualizing Diversity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2428875"/>
            <a:ext cx="52863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BSF illustrates exploitation—locking onto the best discovered solution. ACP illustrates exploration—how much the population spreads out to search the space. A high gap between them indicates high diversity.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/>
        </p:nvSpPr>
        <p:spPr>
          <a:xfrm>
            <a:off x="5619750" y="2752725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1720453" y="3086100"/>
            <a:ext cx="8751093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Comparing Selection Schemes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4167187" y="3990975"/>
            <a:ext cx="3857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How different combinations impact BSF and ACP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306859"/>
            <a:ext cx="11049000" cy="510153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/>
          <p:nvPr/>
        </p:nvSpPr>
        <p:spPr>
          <a:xfrm>
            <a:off x="1123950" y="5751165"/>
            <a:ext cx="9944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BSF curves monotonically decrease. They drop rapidly as obvious improvements are found, then flatten out as the algorithm struggles to find marginally better variations.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571500" y="449609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BSF Convergence Trend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306859"/>
            <a:ext cx="11049000" cy="510153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 txBox="1"/>
          <p:nvPr/>
        </p:nvSpPr>
        <p:spPr>
          <a:xfrm>
            <a:off x="1123950" y="5751165"/>
            <a:ext cx="9944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The ACP curve generally descends but can fluctuate. It remains consistently higher than the BSF curve because the population deliberately contains diverse, non-optimal individuals searching new areas.</a:t>
            </a:r>
            <a:endParaRPr/>
          </a:p>
        </p:txBody>
      </p:sp>
      <p:sp>
        <p:nvSpPr>
          <p:cNvPr id="163" name="Google Shape;163;p21"/>
          <p:cNvSpPr txBox="1"/>
          <p:nvPr/>
        </p:nvSpPr>
        <p:spPr>
          <a:xfrm>
            <a:off x="571500" y="449609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ACP Convergence Trend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11049000" cy="4857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22"/>
          <p:cNvGraphicFramePr/>
          <p:nvPr/>
        </p:nvGraphicFramePr>
        <p:xfrm>
          <a:off x="571500" y="180498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{C49D837E-EE33-4BA4-98C9-754F38B86DEA}</a:tableStyleId>
              </a:tblPr>
              <a:tblGrid>
                <a:gridCol w="2231975"/>
                <a:gridCol w="2310100"/>
                <a:gridCol w="2991000"/>
                <a:gridCol w="3515925"/>
              </a:tblGrid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Parent Scheme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Survival Scheme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Convergence (Sphere)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Convergence (Rosenbrock)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Truncation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Rank-Based (RBS)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Tournament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Moderate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Moderate / Fast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Tournament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Truncation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Fast (Best Accuracy)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Tournament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Tournament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Fastest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Premature Convergence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p22"/>
          <p:cNvSpPr/>
          <p:nvPr/>
        </p:nvSpPr>
        <p:spPr>
          <a:xfrm>
            <a:off x="571500" y="3028950"/>
            <a:ext cx="223197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2803475" y="3028950"/>
            <a:ext cx="231011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5113585" y="3028950"/>
            <a:ext cx="299099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8104584" y="3028950"/>
            <a:ext cx="351591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571500" y="3638550"/>
            <a:ext cx="223197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2803475" y="3638550"/>
            <a:ext cx="231011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5113585" y="3638550"/>
            <a:ext cx="299099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8104584" y="3638550"/>
            <a:ext cx="351591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571500" y="4248150"/>
            <a:ext cx="223197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2803475" y="4248150"/>
            <a:ext cx="231011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5113585" y="4248150"/>
            <a:ext cx="299099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8104584" y="4248150"/>
            <a:ext cx="351591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571500" y="4857750"/>
            <a:ext cx="223197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2803475" y="4857750"/>
            <a:ext cx="231011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5113585" y="4857750"/>
            <a:ext cx="299099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8104584" y="4857750"/>
            <a:ext cx="351591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Scheme Performance Summary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/>
        </p:nvSpPr>
        <p:spPr>
          <a:xfrm>
            <a:off x="571500" y="219075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The ideal evolutionary algorithm behaves optimally when it balances the forces shown in both graphs:</a:t>
            </a:r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752475" y="28479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809625" y="2847975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Rapid BSF Decline:</a:t>
            </a: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We want the Best-So-Far metric to plummet quickly, indicating strong, targeted exploitation of the fitness landscape.</a:t>
            </a:r>
            <a:endParaRPr/>
          </a:p>
        </p:txBody>
      </p:sp>
      <p:sp>
        <p:nvSpPr>
          <p:cNvPr id="194" name="Google Shape;194;p23"/>
          <p:cNvSpPr txBox="1"/>
          <p:nvPr/>
        </p:nvSpPr>
        <p:spPr>
          <a:xfrm>
            <a:off x="752475" y="37623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809625" y="3762375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Healthy ACP Gap:</a:t>
            </a: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We want the Average Current Population metric to stay slightly above the BSF, indicating the population is still actively searching and resisting premature convergence.</a:t>
            </a:r>
            <a:endParaRPr/>
          </a:p>
        </p:txBody>
      </p:sp>
      <p:pic>
        <p:nvPicPr>
          <p:cNvPr id="196" name="Google Shape;19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19075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Achieving The Goal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/>
          <p:nvPr/>
        </p:nvSpPr>
        <p:spPr>
          <a:xfrm>
            <a:off x="571500" y="26193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571500" y="339090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5"/>
          <p:cNvSpPr/>
          <p:nvPr/>
        </p:nvSpPr>
        <p:spPr>
          <a:xfrm>
            <a:off x="571500" y="3381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571500" y="3381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571500" y="4324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571500" y="4324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622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/>
          <p:cNvSpPr txBox="1"/>
          <p:nvPr/>
        </p:nvSpPr>
        <p:spPr>
          <a:xfrm>
            <a:off x="1666875" y="27693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https://science.hkust.edu.hk/sites/default/files/prof._jianfeng_cais_project.png</a:t>
            </a:r>
            <a:endParaRPr/>
          </a:p>
        </p:txBody>
      </p:sp>
      <p:sp>
        <p:nvSpPr>
          <p:cNvPr id="217" name="Google Shape;217;p25"/>
          <p:cNvSpPr txBox="1"/>
          <p:nvPr/>
        </p:nvSpPr>
        <p:spPr>
          <a:xfrm>
            <a:off x="1666875" y="30027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science.hkust.edu.hk</a:t>
            </a:r>
            <a:endParaRPr/>
          </a:p>
        </p:txBody>
      </p:sp>
      <p:pic>
        <p:nvPicPr>
          <p:cNvPr id="218" name="Google Shape;21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195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5"/>
          <p:cNvSpPr txBox="1"/>
          <p:nvPr/>
        </p:nvSpPr>
        <p:spPr>
          <a:xfrm>
            <a:off x="1666875" y="353377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https://static.vecteezy.com/system/resources/thumbnails/066/855/496/small_2x/abstract-network-background-showing-glowing-nodes-connected-by-lines-representing-digital-document-and-data-management-cloud-storage-and-technology-concepts-video.jpg</a:t>
            </a:r>
            <a:endParaRPr/>
          </a:p>
        </p:txBody>
      </p:sp>
      <p:sp>
        <p:nvSpPr>
          <p:cNvPr id="220" name="Google Shape;220;p25"/>
          <p:cNvSpPr txBox="1"/>
          <p:nvPr/>
        </p:nvSpPr>
        <p:spPr>
          <a:xfrm>
            <a:off x="1666875" y="395287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pic>
        <p:nvPicPr>
          <p:cNvPr id="221" name="Google Shape;22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767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 txBox="1"/>
          <p:nvPr/>
        </p:nvSpPr>
        <p:spPr>
          <a:xfrm>
            <a:off x="1666875" y="44838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https://www.bounteous.com/sites/default/files/insights/2024-01/previews/2023_bullseye_website.png</a:t>
            </a:r>
            <a:endParaRPr/>
          </a:p>
        </p:txBody>
      </p:sp>
      <p:sp>
        <p:nvSpPr>
          <p:cNvPr id="223" name="Google Shape;223;p25"/>
          <p:cNvSpPr txBox="1"/>
          <p:nvPr/>
        </p:nvSpPr>
        <p:spPr>
          <a:xfrm>
            <a:off x="1666875" y="47172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www.bounteous.com</a:t>
            </a:r>
            <a:endParaRPr/>
          </a:p>
        </p:txBody>
      </p:sp>
      <p:sp>
        <p:nvSpPr>
          <p:cNvPr id="224" name="Google Shape;224;p2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</Words>
  <Application>Microsoft Office PowerPoint</Application>
  <PresentationFormat>Widescreen</PresentationFormat>
  <Paragraphs>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DM Sans</vt:lpstr>
      <vt:lpstr>Merriweather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ok</cp:lastModifiedBy>
  <cp:revision>1</cp:revision>
  <dcterms:modified xsi:type="dcterms:W3CDTF">2026-03-14T13:07:36Z</dcterms:modified>
</cp:coreProperties>
</file>